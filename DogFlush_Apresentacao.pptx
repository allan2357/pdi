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oval">
            <a:avLst/>
          </a:prstGeom>
          <a:solidFill>
            <a:srgbClr val="004D4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oval">
            <a:avLst/>
          </a:prstGeom>
          <a:solidFill>
            <a:srgbClr val="004D40">
              <a:alpha val="6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182880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MCZA018 — Processamento Digital de Imagens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16459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DogFlush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57200" y="2514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Descarga Automática para Pets</a:t>
            </a:r>
            <a:endParaRPr lang="en-US" sz="2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0"/>
            <a:ext cx="1371600" cy="1371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3383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Allan Hirose Pires de Souza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Juliana dos Santos Silva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Kaike Nascimento Souza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57200" y="4389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3657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MCZA018 — Processamento Digital de Imagens — Q1.2026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411480" cy="411480"/>
          </a:xfrm>
          <a:prstGeom prst="rect">
            <a:avLst>
              <a:gd name="adj" fmla="val 11111"/>
            </a:avLst>
          </a:prstGeom>
          <a:solidFill>
            <a:srgbClr val="00897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097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 e Contexto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11480" cy="411480"/>
          </a:xfrm>
          <a:prstGeom prst="rect">
            <a:avLst>
              <a:gd name="adj" fmla="val 11111"/>
            </a:avLst>
          </a:prstGeom>
          <a:solidFill>
            <a:srgbClr val="00897B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57800" y="1097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do Sistema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411480" cy="411480"/>
          </a:xfrm>
          <a:prstGeom prst="rect">
            <a:avLst>
              <a:gd name="adj" fmla="val 11111"/>
            </a:avLst>
          </a:prstGeom>
          <a:solidFill>
            <a:srgbClr val="00897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1783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 Pipeline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783080"/>
            <a:ext cx="411480" cy="411480"/>
          </a:xfrm>
          <a:prstGeom prst="rect">
            <a:avLst>
              <a:gd name="adj" fmla="val 11111"/>
            </a:avLst>
          </a:prstGeom>
          <a:solidFill>
            <a:srgbClr val="00897B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57800" y="1783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de Processamento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468880"/>
            <a:ext cx="411480" cy="411480"/>
          </a:xfrm>
          <a:prstGeom prst="rect">
            <a:avLst>
              <a:gd name="adj" fmla="val 11111"/>
            </a:avLst>
          </a:prstGeom>
          <a:solidFill>
            <a:srgbClr val="00897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2468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de Estados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2468880"/>
            <a:ext cx="411480" cy="411480"/>
          </a:xfrm>
          <a:prstGeom prst="rect">
            <a:avLst>
              <a:gd name="adj" fmla="val 11111"/>
            </a:avLst>
          </a:prstGeom>
          <a:solidFill>
            <a:srgbClr val="00897B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57800" y="2468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Atendidos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154680"/>
            <a:ext cx="411480" cy="411480"/>
          </a:xfrm>
          <a:prstGeom prst="rect">
            <a:avLst>
              <a:gd name="adj" fmla="val 11111"/>
            </a:avLst>
          </a:prstGeom>
          <a:solidFill>
            <a:srgbClr val="00897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31546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Desempenho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3154680"/>
            <a:ext cx="411480" cy="411480"/>
          </a:xfrm>
          <a:prstGeom prst="rect">
            <a:avLst>
              <a:gd name="adj" fmla="val 11111"/>
            </a:avLst>
          </a:prstGeom>
          <a:solidFill>
            <a:srgbClr val="00897B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57800" y="31546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Experimental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3840480"/>
            <a:ext cx="411480" cy="411480"/>
          </a:xfrm>
          <a:prstGeom prst="rect">
            <a:avLst>
              <a:gd name="adj" fmla="val 11111"/>
            </a:avLst>
          </a:prstGeom>
          <a:solidFill>
            <a:srgbClr val="00897B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60120" y="3840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e Resultados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754880" y="3840480"/>
            <a:ext cx="411480" cy="411480"/>
          </a:xfrm>
          <a:prstGeom prst="rect">
            <a:avLst>
              <a:gd name="adj" fmla="val 11111"/>
            </a:avLst>
          </a:prstGeom>
          <a:solidFill>
            <a:srgbClr val="00897B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57800" y="3840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Motivação e Contexto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3657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MCZA018 — Processamento Digital de Imagens — Q1.2026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51560"/>
            <a:ext cx="393192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234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173736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Donos de pets que trabalham/estudam passam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horas fora de casa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 espaço sanitário dos animais acumula sujeira, gerando: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Odores e contaminação bacteriana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Desconforto para o animal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Recusa em reutilizar o espaço sujo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51560"/>
            <a:ext cx="3931920" cy="5486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234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 de Mercado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83480" y="173736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Soluções autolimpantes para gatos existem, mas para cães são praticamente inexistentes no Brasil.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existentes: R$ 900+ (não-automatizados)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Soluções automatizadas: R$ 2.000+ com hardware especial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proposta: visão computacional com webcam comum — acessível e sem hardware extra.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do Sistema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3657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MCZA018 — Processamento Digital de Imagens — Q1.2026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DogFlush monitora uma área sanitária via webcam e aciona automaticamente a descarga quando o animal termina de usar o espaço.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60604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25880" y="2057400"/>
            <a:ext cx="640080" cy="640080"/>
          </a:xfrm>
          <a:prstGeom prst="oval">
            <a:avLst/>
          </a:prstGeom>
          <a:solidFill>
            <a:srgbClr val="00897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2167128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2834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Plug-and-Play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" y="32004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Basta posicionar a webcam e executar. O sistema opera autonomamente.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337560" y="1828800"/>
            <a:ext cx="260604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06240" y="2057400"/>
            <a:ext cx="640080" cy="640080"/>
          </a:xfrm>
          <a:prstGeom prst="oval">
            <a:avLst/>
          </a:prstGeom>
          <a:solidFill>
            <a:srgbClr val="00695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2167128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20440" y="2834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Real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520440" y="32004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on-the-fly com visualização de cada etapa do pipeline.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217920" y="1828800"/>
            <a:ext cx="260604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086600" y="2057400"/>
            <a:ext cx="640080" cy="640080"/>
          </a:xfrm>
          <a:prstGeom prst="oval">
            <a:avLst/>
          </a:prstGeom>
          <a:solidFill>
            <a:srgbClr val="003F2D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2167128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00800" y="2834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Dual-Mode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400800" y="32004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 webcam ao vivo e arquivos de vídeo gravados de terceiros.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do Sistema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3657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MCZA018 — Processamento Digital de Imagens — Q1.2026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" y="1188720"/>
            <a:ext cx="960120" cy="1371600"/>
          </a:xfrm>
          <a:prstGeom prst="rect">
            <a:avLst/>
          </a:prstGeom>
          <a:solidFill>
            <a:srgbClr val="0288D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3258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173736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Blur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" y="1737360"/>
            <a:ext cx="128016" cy="12801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719072" y="1188720"/>
            <a:ext cx="960120" cy="1371600"/>
          </a:xfrm>
          <a:prstGeom prst="rect">
            <a:avLst/>
          </a:prstGeom>
          <a:solidFill>
            <a:srgbClr val="7B1FA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252" y="132588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19072" y="173736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HSV</a:t>
            </a:r>
            <a:endParaRPr lang="en-US" sz="10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1737360"/>
            <a:ext cx="128016" cy="128016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2843784" y="1188720"/>
            <a:ext cx="960120" cy="1371600"/>
          </a:xfrm>
          <a:prstGeom prst="rect">
            <a:avLst/>
          </a:prstGeom>
          <a:solidFill>
            <a:srgbClr val="00897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0964" y="132588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843784" y="173736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Histograma</a:t>
            </a:r>
            <a:endParaRPr lang="en-US" sz="10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2192" y="1737360"/>
            <a:ext cx="128016" cy="128016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3968496" y="1188720"/>
            <a:ext cx="960120" cy="1371600"/>
          </a:xfrm>
          <a:prstGeom prst="rect">
            <a:avLst/>
          </a:prstGeom>
          <a:solidFill>
            <a:srgbClr val="E6510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5676" y="1325880"/>
            <a:ext cx="365760" cy="36576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3968496" y="173736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MOG2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Otsu</a:t>
            </a:r>
            <a:endParaRPr lang="en-US" sz="10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6904" y="1737360"/>
            <a:ext cx="128016" cy="128016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5093208" y="1188720"/>
            <a:ext cx="960120" cy="1371600"/>
          </a:xfrm>
          <a:prstGeom prst="rect">
            <a:avLst/>
          </a:prstGeom>
          <a:solidFill>
            <a:srgbClr val="C6282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0388" y="1325880"/>
            <a:ext cx="365760" cy="36576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093208" y="173736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Morfologia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Fusão</a:t>
            </a:r>
            <a:endParaRPr lang="en-US" sz="10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71616" y="1737360"/>
            <a:ext cx="128016" cy="128016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6217920" y="1188720"/>
            <a:ext cx="960120" cy="137160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5100" y="1325880"/>
            <a:ext cx="365760" cy="365760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6217920" y="173736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Watershed</a:t>
            </a:r>
            <a:endParaRPr lang="en-US" sz="1000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96328" y="1737360"/>
            <a:ext cx="128016" cy="128016"/>
          </a:xfrm>
          <a:prstGeom prst="rect">
            <a:avLst/>
          </a:prstGeom>
        </p:spPr>
      </p:pic>
      <p:sp>
        <p:nvSpPr>
          <p:cNvPr id="31" name="Shape 17"/>
          <p:cNvSpPr/>
          <p:nvPr/>
        </p:nvSpPr>
        <p:spPr>
          <a:xfrm>
            <a:off x="7342632" y="1188720"/>
            <a:ext cx="960120" cy="137160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39812" y="1325880"/>
            <a:ext cx="365760" cy="365760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7342632" y="173736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Estados</a:t>
            </a:r>
            <a:endParaRPr lang="en-US" sz="1000" dirty="0"/>
          </a:p>
        </p:txBody>
      </p:sp>
      <p:sp>
        <p:nvSpPr>
          <p:cNvPr id="34" name="Text 19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7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completo: da captura de vídeo até a decisão de acionamento, operando em tempo real.</a:t>
            </a:r>
            <a:endParaRPr lang="en-US" sz="1300" dirty="0"/>
          </a:p>
        </p:txBody>
      </p:sp>
      <p:sp>
        <p:nvSpPr>
          <p:cNvPr id="35" name="Shape 20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21"/>
          <p:cNvSpPr/>
          <p:nvPr/>
        </p:nvSpPr>
        <p:spPr>
          <a:xfrm>
            <a:off x="640080" y="35661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03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Webcam/Vídeo → Suavização Gaussiana → Conversão HSV + Equalização CLAHE → Detecção MOG2 (movimento) + Otsu/HSV (cor) → Fusão AND → Abertura + Fechamento + Dilatação → Watershed → Filtragem de Contornos → Máquina de Estados Temporal → Acionamento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1-2: Captura, Suavização e Cores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3657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MCZA018 — Processamento Digital de Imagens — Q1.2026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34440"/>
            <a:ext cx="502920" cy="502920"/>
          </a:xfrm>
          <a:prstGeom prst="oval">
            <a:avLst/>
          </a:prstGeom>
          <a:solidFill>
            <a:srgbClr val="0288D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307592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2344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&amp; Suavização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5800" y="19202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via OpenCV (cv2.VideoCapture)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Resolução: 640×480 @ 15 FPS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de ROI interativa pelo usuário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Gaussiano 7×7 para redução de ruído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5F7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blur suaviza ruídos de alta frequência que causariam falsos positivos na detecção de movimento.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05156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937760" y="1234440"/>
            <a:ext cx="502920" cy="502920"/>
          </a:xfrm>
          <a:prstGeom prst="oval">
            <a:avLst/>
          </a:prstGeom>
          <a:solidFill>
            <a:srgbClr val="7B1FA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307592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77840" y="12344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Processamento de Cores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983480" y="19202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BGR → HSV (matiz, saturação, valor)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BGR → Escala de Cinza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do canal de Saturação (S)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com Colormap JET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5F7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espaço HSV separa luminância de crominância, tornando a detecção mais robusta a variações de iluminação.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3: Equalização e Histograma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3657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MCZA018 — Processamento Digital de Imagens — Q1.2026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188720"/>
            <a:ext cx="502920" cy="502920"/>
          </a:xfrm>
          <a:prstGeom prst="oval">
            <a:avLst/>
          </a:prstGeom>
          <a:solidFill>
            <a:srgbClr val="00897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261872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1887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CLAHE — Contrast Limited Adaptive Histogram Equalization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5800" y="1828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a imagem em blocos 8×8 e equaliza cada bloco localmente, limitando o contraste (clipLimit=2.0) para evitar amplificação de ruído. Melhora detalhes em regiões escuras sem saturar áreas claras.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7432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8580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Parâmetros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" y="32004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E4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clipLimit = 2.0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2E4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tileGridSize = (8, 8)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Histograma comparativo: original vs. CLAHE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754880" y="27432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98348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Janela Didática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983480" y="32004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"3. Histograma" exibe em tempo real: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Vermelho = histograma original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= histograma após CLAHE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4: Detecção — MOG2 + Otsu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3657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MCZA018 — Processamento Digital de Imagens — Q1.2026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51560"/>
            <a:ext cx="73152" cy="32004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143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Movimento (MOG2)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160020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Subtração de fundo adaptativa baseada em Mistura de Gaussianas (Zivkovic, 2004).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2E4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 = 500 frames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2E4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varThreshold = 20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2E4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learningRate = 0.0001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2E4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detectShadows = True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5F7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aprendizado baixa evita que o animal parado seja absorvido pelo fundo.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51560"/>
            <a:ext cx="73152" cy="32004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143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Estático (Otsu/HSV)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160020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Limiarização automática de Otsu sobre a imagem CLAHE equalizada.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2E4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THRESH_BINARY_INV + THRESH_OTSU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o animal mesmo quando parado (MOG2 perde rastreamento de objetos estáticos).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Fusão: AND lógico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5F7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fusão AND entre os dois pipelines reduz falsos positivos.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5-6: Morfologia e Watershed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3657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MCZA018 — Processamento Digital de Imagens — Q1.2026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188720"/>
            <a:ext cx="457200" cy="457200"/>
          </a:xfrm>
          <a:prstGeom prst="oval">
            <a:avLst/>
          </a:prstGeom>
          <a:solidFill>
            <a:srgbClr val="C6282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252728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188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Operações Morfológicas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5800" y="173736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de limpeza da máscara binária: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Abertura (5×5, 2 iter.) — remove ruído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Fechamento (9×9, 3 iter.) — preenche buracos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Dilatação (5×5, 1 iter.) — expande máscara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5F7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kernels são elípticos (MORPH_ELLIPSE) para contornos mais naturais.</a:t>
            </a:r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temporal com decaimento exponencial (fator 0.90) persiste a detecção por ~10 frames.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05156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937760" y="1188720"/>
            <a:ext cx="457200" cy="457200"/>
          </a:xfrm>
          <a:prstGeom prst="oval">
            <a:avLst/>
          </a:prstGeom>
          <a:solidFill>
            <a:srgbClr val="1565C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252728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32120" y="1188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Watershed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983480" y="173736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topográfica (Beucher &amp; Meyer, 1993):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Distance Transform (L2)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Foreground: 30% da dist. máxima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Background: dilatação com kernel 13×13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Marcadores via connectedComponents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cv2.watershed() → bordas em vermelho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5F7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bordas vermelhas na janela de resultado indicam os limites encontrados pelo Watershed.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7: Filtragem de Contornos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3657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MCZA018 — Processamento Digital de Imagens — Q1.2026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143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segmentação, cada contorno candidato passa por 4 filtros para eliminar falsos positivos: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00200"/>
          <a:ext cx="7772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2860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4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mínima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4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da ROI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4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4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máxima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4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da ROI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4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4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 Ratio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4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largura/altura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4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 – 5.0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4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Solidez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4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área/convex hull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4A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7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maior contorno válido é selecionado como detecção. Suavização temporal com mediana de 5 frames estabiliza a decisão.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pPr indent="0" marL="0"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3.206 contornos rejeitados por área, 0 por forma, 0 por solidez — filtragem eficaz sem perda de detecções válidas.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 de Estados Temporal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3657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MCZA018 — Processamento Digital de Imagens — Q1.2026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2468880" cy="1828800"/>
          </a:xfrm>
          <a:prstGeom prst="rect">
            <a:avLst/>
          </a:prstGeom>
          <a:solidFill>
            <a:srgbClr val="43A04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1704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371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LIVRE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Monitorando.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 detecção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consecutiva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 frames).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392" y="1737360"/>
            <a:ext cx="228600" cy="2286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429000" y="1097280"/>
            <a:ext cx="2468880" cy="1828800"/>
          </a:xfrm>
          <a:prstGeom prst="rect">
            <a:avLst/>
          </a:prstGeom>
          <a:solidFill>
            <a:srgbClr val="FF8F0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429000" y="11704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429000" y="1371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OCUPADO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566160" y="18288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detectado.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 presença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contínua na ROI.</a:t>
            </a:r>
            <a:endParaRPr lang="en-US" sz="1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312" y="1737360"/>
            <a:ext cx="228600" cy="2286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217920" y="1097280"/>
            <a:ext cx="2468880" cy="1828800"/>
          </a:xfrm>
          <a:prstGeom prst="rect">
            <a:avLst/>
          </a:prstGeom>
          <a:solidFill>
            <a:srgbClr val="E5393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217920" y="11704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2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217920" y="1371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ACIONANDO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355080" y="18288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saiu.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ativada!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do sistema.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57200" y="32004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685800" y="3291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de Transição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85800" y="3611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 → OCUPADO: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frames consecutivos com detecção suavizada (mediana do buffer)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OCUPADO → ACIONANDO: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de frames chega a 0 (animal saiu)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ACIONANDO → LIVRE: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 de 2s, reset de MOG2, memória e buffer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— 8 Janelas Didáticas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3657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MCZA018 — Processamento Digital de Imagens — Q1.2026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1920240" cy="274320"/>
          </a:xfrm>
          <a:prstGeom prst="rect">
            <a:avLst/>
          </a:prstGeom>
          <a:solidFill>
            <a:srgbClr val="003F2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Blur Gaussiano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5087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suavizada (entrada)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109728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1097280"/>
            <a:ext cx="1920240" cy="274320"/>
          </a:xfrm>
          <a:prstGeom prst="rect">
            <a:avLst/>
          </a:prstGeom>
          <a:solidFill>
            <a:srgbClr val="003F2D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CLAHE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97480" y="15087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Equalização adaptativa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97280"/>
            <a:ext cx="1920240" cy="274320"/>
          </a:xfrm>
          <a:prstGeom prst="rect">
            <a:avLst/>
          </a:prstGeom>
          <a:solidFill>
            <a:srgbClr val="003F2D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Histograma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15087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vs. CLAHE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109728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097280"/>
            <a:ext cx="1920240" cy="274320"/>
          </a:xfrm>
          <a:prstGeom prst="rect">
            <a:avLst/>
          </a:prstGeom>
          <a:solidFill>
            <a:srgbClr val="003F2D"/>
          </a:solidFill>
          <a:ln/>
        </p:spPr>
      </p:sp>
      <p:sp>
        <p:nvSpPr>
          <p:cNvPr id="21" name="Text 19"/>
          <p:cNvSpPr/>
          <p:nvPr/>
        </p:nvSpPr>
        <p:spPr>
          <a:xfrm>
            <a:off x="6995160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Saturação HSV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95160" y="15087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S com colormap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88036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880360"/>
            <a:ext cx="1920240" cy="274320"/>
          </a:xfrm>
          <a:prstGeom prst="rect">
            <a:avLst/>
          </a:prstGeom>
          <a:solidFill>
            <a:srgbClr val="003F2D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880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MOG2 (Movimento)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32918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Máscara de foreground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606040" y="288036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606040" y="2880360"/>
            <a:ext cx="1920240" cy="274320"/>
          </a:xfrm>
          <a:prstGeom prst="rect">
            <a:avLst/>
          </a:prstGeom>
          <a:solidFill>
            <a:srgbClr val="003F2D"/>
          </a:solidFill>
          <a:ln/>
        </p:spPr>
      </p:sp>
      <p:sp>
        <p:nvSpPr>
          <p:cNvPr id="29" name="Text 27"/>
          <p:cNvSpPr/>
          <p:nvPr/>
        </p:nvSpPr>
        <p:spPr>
          <a:xfrm>
            <a:off x="2697480" y="2880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Otsu/HSV (Cor)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97480" y="32918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Limiarização estática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288036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2880360"/>
            <a:ext cx="1920240" cy="274320"/>
          </a:xfrm>
          <a:prstGeom prst="rect">
            <a:avLst/>
          </a:prstGeom>
          <a:solidFill>
            <a:srgbClr val="003F2D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2880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Máscara Fundida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32918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AND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903720" y="2880360"/>
            <a:ext cx="19202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903720" y="2880360"/>
            <a:ext cx="1920240" cy="274320"/>
          </a:xfrm>
          <a:prstGeom prst="rect">
            <a:avLst/>
          </a:prstGeom>
          <a:solidFill>
            <a:srgbClr val="003F2D"/>
          </a:solidFill>
          <a:ln/>
        </p:spPr>
      </p:sp>
      <p:sp>
        <p:nvSpPr>
          <p:cNvPr id="37" name="Text 35"/>
          <p:cNvSpPr/>
          <p:nvPr/>
        </p:nvSpPr>
        <p:spPr>
          <a:xfrm>
            <a:off x="6995160" y="2880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Resultado Final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95160" y="32918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Watershed + HUD + estados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da Disciplina — Checklist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3657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MCZA018 — Processamento Digital de Imagens — Q1.2026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10058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Filtragem de imagens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0" y="10058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Gaussiano 7×7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1353312"/>
            <a:ext cx="8229600" cy="347472"/>
          </a:xfrm>
          <a:prstGeom prst="rect">
            <a:avLst/>
          </a:prstGeom>
          <a:solidFill>
            <a:srgbClr val="E0F2F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99032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8680" y="13533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Processamento de cores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114800" y="135331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BGR→HSV, canal 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1700784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46504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680" y="17007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Histograma / Equalização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114800" y="170078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+ visualização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2048256"/>
            <a:ext cx="8229600" cy="347472"/>
          </a:xfrm>
          <a:prstGeom prst="rect">
            <a:avLst/>
          </a:prstGeom>
          <a:solidFill>
            <a:srgbClr val="E0F2F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093976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68680" y="20482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Operadores Morfológicos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114800" y="204825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Abertura, Fechamento, Dilatação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57200" y="2395728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441448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68680" y="23957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Segmentação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4114800" y="239572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MOG2 + Otsu + fusão AND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457200" y="2743200"/>
            <a:ext cx="8229600" cy="347472"/>
          </a:xfrm>
          <a:prstGeom prst="rect">
            <a:avLst/>
          </a:prstGeom>
          <a:solidFill>
            <a:srgbClr val="E0F2F1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788920"/>
            <a:ext cx="228600" cy="2286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68680" y="27432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Watershed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4114800" y="27432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Transform + marcadores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457200" y="3090672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136392"/>
            <a:ext cx="228600" cy="22860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68680" y="30906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de vídeo (H)</a:t>
            </a:r>
            <a:endParaRPr lang="en-US" sz="1200" dirty="0"/>
          </a:p>
        </p:txBody>
      </p:sp>
      <p:sp>
        <p:nvSpPr>
          <p:cNvPr id="34" name="Text 25"/>
          <p:cNvSpPr/>
          <p:nvPr/>
        </p:nvSpPr>
        <p:spPr>
          <a:xfrm>
            <a:off x="4114800" y="309067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 .avi processado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457200" y="3438144"/>
            <a:ext cx="8229600" cy="347472"/>
          </a:xfrm>
          <a:prstGeom prst="rect">
            <a:avLst/>
          </a:prstGeom>
          <a:solidFill>
            <a:srgbClr val="E0F2F1"/>
          </a:solidFill>
          <a:ln/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3483864"/>
            <a:ext cx="228600" cy="22860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868680" y="34381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de terceiros (I)</a:t>
            </a:r>
            <a:endParaRPr lang="en-US" sz="1200" dirty="0"/>
          </a:p>
        </p:txBody>
      </p:sp>
      <p:sp>
        <p:nvSpPr>
          <p:cNvPr id="38" name="Text 28"/>
          <p:cNvSpPr/>
          <p:nvPr/>
        </p:nvSpPr>
        <p:spPr>
          <a:xfrm>
            <a:off x="4114800" y="343814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 arquivos .mp4</a:t>
            </a:r>
            <a:endParaRPr lang="en-US" sz="1200" dirty="0"/>
          </a:p>
        </p:txBody>
      </p:sp>
      <p:sp>
        <p:nvSpPr>
          <p:cNvPr id="39" name="Shape 29"/>
          <p:cNvSpPr/>
          <p:nvPr/>
        </p:nvSpPr>
        <p:spPr>
          <a:xfrm>
            <a:off x="457200" y="3785616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3831336"/>
            <a:ext cx="228600" cy="22860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868680" y="37856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de desempenho (G)</a:t>
            </a:r>
            <a:endParaRPr lang="en-US" sz="1200" dirty="0"/>
          </a:p>
        </p:txBody>
      </p:sp>
      <p:sp>
        <p:nvSpPr>
          <p:cNvPr id="42" name="Text 31"/>
          <p:cNvSpPr/>
          <p:nvPr/>
        </p:nvSpPr>
        <p:spPr>
          <a:xfrm>
            <a:off x="4114800" y="378561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+ relatório completo</a:t>
            </a:r>
            <a:endParaRPr lang="en-US" sz="1200" dirty="0"/>
          </a:p>
        </p:txBody>
      </p:sp>
      <p:sp>
        <p:nvSpPr>
          <p:cNvPr id="43" name="Shape 32"/>
          <p:cNvSpPr/>
          <p:nvPr/>
        </p:nvSpPr>
        <p:spPr>
          <a:xfrm>
            <a:off x="457200" y="4133088"/>
            <a:ext cx="8229600" cy="347472"/>
          </a:xfrm>
          <a:prstGeom prst="rect">
            <a:avLst/>
          </a:prstGeom>
          <a:solidFill>
            <a:srgbClr val="E0F2F1"/>
          </a:solidFill>
          <a:ln/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4178808"/>
            <a:ext cx="228600" cy="228600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868680" y="41330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Interatividade</a:t>
            </a:r>
            <a:endParaRPr lang="en-US" sz="1200" dirty="0"/>
          </a:p>
        </p:txBody>
      </p:sp>
      <p:sp>
        <p:nvSpPr>
          <p:cNvPr id="46" name="Text 34"/>
          <p:cNvSpPr/>
          <p:nvPr/>
        </p:nvSpPr>
        <p:spPr>
          <a:xfrm>
            <a:off x="4114800" y="413308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ROI, 8 janelas, HUD, teclas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de Desempenho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3657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MCZA018 — Processamento Digital de Imagens — Q1.2026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51560"/>
            <a:ext cx="192024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897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45.5 FPS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média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105156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1051560"/>
            <a:ext cx="1920240" cy="54864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1234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6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26.1%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60604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detecção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05156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51560"/>
            <a:ext cx="1920240" cy="5486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234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5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13.78s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5488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resposta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105156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051560"/>
            <a:ext cx="1920240" cy="54864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1234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B1FA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17.80 dB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90372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7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médio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78892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" y="2880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Completo (774 frames, 55.9s)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32461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com detecção: 202/774 (26.1%)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média detectada: 55.698 px²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ativações: 1 (correta)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Contornos rejeitados: 3.206 por área, 0 por forma, 0 por solidez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PSNR: 17.80 ± 0.04 dB (variação mínima = consistência do processamento)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 Experimental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3657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MCZA018 — Processamento Digital de Imagens — Q1.2026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43000" y="1188720"/>
            <a:ext cx="548640" cy="548640"/>
          </a:xfrm>
          <a:prstGeom prst="oval">
            <a:avLst/>
          </a:prstGeom>
          <a:solidFill>
            <a:srgbClr val="00897B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Preparação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24028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Posicione a webcam apontando para a área sanitária do pet. Abra o Jupyter Notebook.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06040" y="105156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188720"/>
            <a:ext cx="548640" cy="548640"/>
          </a:xfrm>
          <a:prstGeom prst="oval">
            <a:avLst/>
          </a:prstGeom>
          <a:solidFill>
            <a:srgbClr val="00897B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74320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Configuração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0" y="224028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 célula de parâmetros. Selecione a ROI na tela quando solicitado.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05156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40680" y="1188720"/>
            <a:ext cx="548640" cy="548640"/>
          </a:xfrm>
          <a:prstGeom prst="oval">
            <a:avLst/>
          </a:prstGeom>
          <a:solidFill>
            <a:srgbClr val="00897B"/>
          </a:solidFill>
          <a:ln/>
        </p:spPr>
      </p:sp>
      <p:sp>
        <p:nvSpPr>
          <p:cNvPr id="19" name="Text 17"/>
          <p:cNvSpPr/>
          <p:nvPr/>
        </p:nvSpPr>
        <p:spPr>
          <a:xfrm>
            <a:off x="544068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9204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Observação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224028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Acompanhe as 8 janelas didáticas. O sistema opera automaticamente.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03720" y="105156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89520" y="1188720"/>
            <a:ext cx="548640" cy="548640"/>
          </a:xfrm>
          <a:prstGeom prst="oval">
            <a:avLst/>
          </a:prstGeom>
          <a:solidFill>
            <a:srgbClr val="00897B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04088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40880" y="224028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animal usar o espaço e sair, a descarga será ativada. Verifique o resultado.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Avaliação: </a:t>
            </a:r>
            <a:pPr indent="0" marL="0"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Questionário com perguntas escritas + escala 1-5 para avaliar compreensão do sistema, resultados obtidos e usabilidade.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3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Demonstração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de execução + Demo ao vivo com webcam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886200" y="2926080"/>
            <a:ext cx="1371600" cy="1371600"/>
          </a:xfrm>
          <a:prstGeom prst="oval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3200400"/>
            <a:ext cx="822960" cy="822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F2D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MCZA018 — Processamento Digital de Imagens — Q1.2026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16/19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e Discussão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3657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MCZA018 — Processamento Digital de Imagens — Q1.2026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17/19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51560"/>
            <a:ext cx="3931920" cy="54864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 Positivos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169164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funcional em tempo real (~45 FPS)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Dual-pipeline (MOG2 + Otsu) reduz falsos negativos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de estados evita acionamentos prematuros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temporal com decaimento suaviza detecção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com 8 janelas permite depuração visual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 webcam e arquivos de vídeo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51560"/>
            <a:ext cx="3931920" cy="5486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Limitações e Melhorias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83480" y="169164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de 17.80 dB (abaixo de 30 dB) — esperado, pois CLAHE altera intensidades intencionalmente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Sensível a mudanças bruscas de iluminação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distingue espécie do animal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 calibração de parâmetros por cenário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 futura: integração com IoT para acionamento real da descarga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Conclusões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3657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MCZA018 — Processamento Digital de Imagens — Q1.2026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18/19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188720"/>
            <a:ext cx="7772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03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DogFlush atendeu todos os requisitos da disciplina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Filtragem, processamento de cores, histograma, morfologia, segmentação e Watershed foram implementados e integrados em um pipeline funcional em tempo real.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demonstrou capacidade de detectar a presença do animal na área sanitária e acionar a descarga automaticamente no momento correto, validado por métricas objetivas e testes experimentais.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arquitetura dual-pipeline (MOG2 para movimento + Otsu/HSV para presença estática) com fusão AND e máquina de estados temporal mostrou-se eficaz para o cenário proposto.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aplica conceitos de PDI para resolver um problema real e acessível, usando apenas uma webcam comum e Python/OpenCV.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 Bibliográficas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3657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F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800600"/>
            <a:ext cx="6400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MCZA018 — Processamento Digital de Imagens — Q1.2026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914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19/19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GONZALEZ, R. C.; WOODS, R. E. Processamento Digital de Imagens. 3ª ed. Pearson, 2010.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BRADSKI, G.; KAEHLER, A. Learning OpenCV: Computer Vision with the OpenCV Library. O'Reilly, 2008.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OpenCV Documentation. Background Subtraction (MOG2).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OpenCV Documentation. Image Segmentation with Watershed Algorithm.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OpenCV Documentation. Histograms — CLAHE.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OpenCV Documentation. Morphological Transformations.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ZIVKOVIC, Z. Improved Adaptive Gaussian Mixture Model for Background Subtraction. ICPR, 2004.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E4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BEUCHER, S.; MEYER, F. The Morphological Approach to Segmentation: The Watershed Transformation. 1993.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4114800"/>
            <a:ext cx="2194560" cy="6583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DogFlush - Sistema de Descarga Automática para Pets</dc:title>
  <dc:subject>PptxGenJS Presentation</dc:subject>
  <dc:creator>Allan Hirose, Juliana Silva, Kaike Souza</dc:creator>
  <cp:lastModifiedBy>Allan Hirose, Juliana Silva, Kaike Souza</cp:lastModifiedBy>
  <cp:revision>1</cp:revision>
  <dcterms:created xsi:type="dcterms:W3CDTF">2026-04-16T02:17:34Z</dcterms:created>
  <dcterms:modified xsi:type="dcterms:W3CDTF">2026-04-16T02:17:34Z</dcterms:modified>
</cp:coreProperties>
</file>
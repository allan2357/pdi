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659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line">
            <a:avLst/>
          </a:prstGeom>
          <a:solidFill>
            <a:srgbClr val="004D40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line">
            <a:avLst/>
          </a:prstGeom>
          <a:solidFill>
            <a:srgbClr val="004D4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8288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DogFlush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Descarga Automática para Pets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914400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Hirose Pires de Souza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dos Santos Silva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Kaike Nascimento Souza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Q1.2026</a:t>
            </a:r>
            <a:endParaRPr lang="en-US" sz="12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669001C-6B05-4E95-92D1-060015946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e Contexto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Sistema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Processamento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Atendidos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Desempenho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7548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Experimental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e Resultados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54880" y="3840480"/>
            <a:ext cx="411480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7548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400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5793FA9-2DDC-07D7-33B8-406ACF7BE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 e Contexto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 de pets que trabalham/estudam passam </a:t>
            </a: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horas fora de casa</a:t>
            </a: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espaço sanitário dos animais acumula sujeira, gerando: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Odores e contaminação bacteriana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para o animal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em reutilizar o espaço sujo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Mercado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autolimpantes para gatos existem, mas para cães são praticamente inexistentes no Brasil.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existentes: R$ 900+ (não-automatizados)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automatizadas: R$ 2.000+ com hardware especial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proposta: visão computacional com webcam comum — acessível e sem hardware extra.</a:t>
            </a:r>
            <a:endParaRPr lang="en-US" sz="13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75B9F4C-87F9-6B69-1A93-D085D5A76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DogFlush monitora uma área sanitária via webcam e aciona automaticamente a descarga quando o animal termina de usar o espaço.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325880" y="2057400"/>
            <a:ext cx="640080" cy="640080"/>
          </a:xfrm>
          <a:prstGeom prst="lin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16712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posicionar a webcam e executar. O sistema opera autonomamente.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37560" y="18288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206240" y="2057400"/>
            <a:ext cx="640080" cy="640080"/>
          </a:xfrm>
          <a:prstGeom prst="line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16712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Real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2044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on-the-fly com visualização de cada etapa do pipeline.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18288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7086600" y="2057400"/>
            <a:ext cx="640080" cy="640080"/>
          </a:xfrm>
          <a:prstGeom prst="line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216712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webcam ao vivo e arquivos de vídeo gravados de terceiros.</a:t>
            </a:r>
            <a:endParaRPr lang="en-US" sz="12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F486628-763D-60FB-17FC-6B44DB84C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960120" cy="1371600"/>
          </a:xfrm>
          <a:prstGeom prst="rect">
            <a:avLst/>
          </a:prstGeom>
          <a:solidFill>
            <a:srgbClr val="0288D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Blur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1737360"/>
            <a:ext cx="128016" cy="1280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19072" y="1188720"/>
            <a:ext cx="960120" cy="1371600"/>
          </a:xfrm>
          <a:prstGeom prst="rect">
            <a:avLst/>
          </a:prstGeom>
          <a:solidFill>
            <a:srgbClr val="7B1FA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252" y="13258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19072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HSV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737360"/>
            <a:ext cx="128016" cy="12801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843784" y="1188720"/>
            <a:ext cx="960120" cy="1371600"/>
          </a:xfrm>
          <a:prstGeom prst="rect">
            <a:avLst/>
          </a:prstGeom>
          <a:solidFill>
            <a:srgbClr val="00897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0964" y="13258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843784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737360"/>
            <a:ext cx="128016" cy="12801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968496" y="1188720"/>
            <a:ext cx="960120" cy="1371600"/>
          </a:xfrm>
          <a:prstGeom prst="rect">
            <a:avLst/>
          </a:prstGeom>
          <a:solidFill>
            <a:srgbClr val="E6510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5676" y="132588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968496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MOG2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Otsu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737360"/>
            <a:ext cx="128016" cy="128016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093208" y="1188720"/>
            <a:ext cx="960120" cy="1371600"/>
          </a:xfrm>
          <a:prstGeom prst="rect">
            <a:avLst/>
          </a:prstGeom>
          <a:solidFill>
            <a:srgbClr val="C6282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0388" y="1325880"/>
            <a:ext cx="365760" cy="36576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93208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Morfologia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Fusão</a:t>
            </a:r>
            <a:endParaRPr lang="en-US" sz="10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737360"/>
            <a:ext cx="128016" cy="128016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6217920" y="1188720"/>
            <a:ext cx="960120" cy="137160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1325880"/>
            <a:ext cx="365760" cy="36576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217920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</a:t>
            </a:r>
            <a:endParaRPr lang="en-US" sz="10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1737360"/>
            <a:ext cx="128016" cy="128016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7342632" y="1188720"/>
            <a:ext cx="960120" cy="1371600"/>
          </a:xfrm>
          <a:prstGeom prst="rect">
            <a:avLst/>
          </a:prstGeom>
          <a:solidFill>
            <a:srgbClr val="2E7D3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9812" y="1325880"/>
            <a:ext cx="365760" cy="36576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7342632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Estados</a:t>
            </a:r>
            <a:endParaRPr lang="en-US" sz="1000" dirty="0"/>
          </a:p>
        </p:txBody>
      </p:sp>
      <p:sp>
        <p:nvSpPr>
          <p:cNvPr id="34" name="Text 1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da captura de vídeo até a decisão de acionamento, operando em tempo real.</a:t>
            </a:r>
            <a:endParaRPr lang="en-US" sz="1300" dirty="0"/>
          </a:p>
        </p:txBody>
      </p:sp>
      <p:sp>
        <p:nvSpPr>
          <p:cNvPr id="35" name="Shape 20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21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</a:t>
            </a: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Webcam/Vídeo → Suavização Gaussiana → Conversão HSV + Equalização CLAHE → Detecção MOG2 (movimento) + Otsu/HSV (cor) → Fusão AND → Abertura + Fechamento + Dilatação → Watershed → Filtragem de Contornos → Máquina de Estados Temporal → Acionamento</a:t>
            </a:r>
            <a:endParaRPr lang="en-US" sz="1100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81290F5-83A9-649F-148E-A03493A626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1-2: Captura, Suavização e Cores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502920" cy="502920"/>
          </a:xfrm>
          <a:prstGeom prst="line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075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234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&amp; Suavização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via OpenCV (cv2.VideoCapture)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Resolução: 640×480 @ 15 FPS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ROI interativa pelo usuário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Gaussiano 7×7 para redução de ruído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blur suaviza ruídos de alta frequência que causariam falsos positivos na detecção de movimento.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937760" y="1234440"/>
            <a:ext cx="502920" cy="502920"/>
          </a:xfrm>
          <a:prstGeom prst="lin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30759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234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de Cores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8348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BGR → HSV (matiz, saturação, valor)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BGR → Escala de Cinza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do canal de Saturação (S)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com Colormap JET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 HSV separa luminância de crominância, tornando a detecção mais robusta a variações de iluminação.</a:t>
            </a:r>
            <a:endParaRPr lang="en-US" sz="12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F88B35D-BF61-BC01-39F8-CA80CFFF0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3: Equalização e Histograma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502920" cy="502920"/>
          </a:xfrm>
          <a:prstGeom prst="lin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6187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188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— Contrast Limited Adaptive Histogram Equalization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 imagem em blocos 8×8 e equaliza cada bloco localmente, limitando o contraste (clipLimit=2.0) para evitar amplificação de ruído. Melhora detalhes em regiões escuras sem saturar áreas claras.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858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3200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clipLimit = 2.0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tileGridSize = (8, 8)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comparativo: original vs. CLAHE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7432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Didática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3200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"3. Histograma" exibe em tempo real: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= histograma original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histograma após CLAHE</a:t>
            </a:r>
            <a:endParaRPr lang="en-US" sz="12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9344C0F-5095-7403-F741-7BFC39065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4: Detecção — MOG2 + Otsu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73152" cy="3200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Movimento (MOG2)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Subtração de fundo adaptativa baseada em Mistura de Gaussianas (Zivkovic, 2004).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500 frames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varThreshold = 20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learningRate = 0.0001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detectShadows = True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 baixa evita que o animal parado seja absorvido pelo fundo.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73152" cy="3200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Estático (Otsu/HSV)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Limiarização automática de Otsu sobre a imagem CLAHE equalizada.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THRESH_BINARY_INV + THRESH_OTSU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o animal mesmo quando parado (MOG2 perde rastreamento de objetos estáticos).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Fusão: AND lógico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fusão AND entre os dois pipelines reduz falsos positivos.</a:t>
            </a:r>
            <a:endParaRPr lang="en-US" sz="12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375A03D-2B9B-CDAB-CB7B-18D351695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5-6: Morfologia e Watershed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457200" cy="457200"/>
          </a:xfrm>
          <a:prstGeom prst="lin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25272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Morfológicas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17373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limpeza da máscara binária: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Abertura (5×5, 2 iter.) — remove ruído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Fechamento (9×9, 3 iter.) — preenche buracos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Dilatação (5×5, 1 iter.) — expande máscara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kernels são elípticos (MORPH_ELLIPSE) para contornos mais naturais.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temporal com decaimento exponencial (fator 0.90) persiste a detecção por ~10 frames.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937760" y="1188720"/>
            <a:ext cx="457200" cy="457200"/>
          </a:xfrm>
          <a:prstGeom prst="lin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25272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83480" y="17373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topográfica (Beucher &amp; Meyer, 1993):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Transform (L2)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Foreground: 30% da dist. máxima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Background: dilatação com kernel 13×13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Marcadores via connectedComponents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cv2.watershed() → bordas em vermelho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bordas vermelhas na janela de resultado indicam os limites encontrados pelo Watershed.</a:t>
            </a:r>
            <a:endParaRPr lang="en-US" sz="12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64D924E-141F-76EA-EB11-86C1FE2CD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7: Filtragem de Contornos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segmentação, cada contorno candidato passa por 4 filtros para eliminar falsos positivos: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7772400" cy="1417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mínima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máxima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largura/altura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– 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área/convex hull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contorno válido é selecionado como detecção. Suavização temporal com mediana de 5 frames estabiliza a decisão.</a:t>
            </a:r>
            <a:endParaRPr lang="en-US" sz="1200" dirty="0"/>
          </a:p>
        </p:txBody>
      </p:sp>
      <p:sp>
        <p:nvSpPr>
          <p:cNvPr id="9" name="Shape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3.206 contornos rejeitados por área, 0 por forma, 0 por solidez — filtragem eficaz sem perda de detecções válidas.</a:t>
            </a:r>
            <a:endParaRPr lang="en-US" sz="12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89FC697-C80F-96E2-4AAF-C021DFA5F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Estados Temporal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2468880" cy="1828800"/>
          </a:xfrm>
          <a:prstGeom prst="rect">
            <a:avLst/>
          </a:prstGeom>
          <a:solidFill>
            <a:srgbClr val="43A04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Monitorando.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detecção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frames).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1737360"/>
            <a:ext cx="228600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29000" y="1097280"/>
            <a:ext cx="2468880" cy="1828800"/>
          </a:xfrm>
          <a:prstGeom prst="rect">
            <a:avLst/>
          </a:prstGeom>
          <a:solidFill>
            <a:srgbClr val="FF8F0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2900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OCUPADO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56616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detectado.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presença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 na ROI.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737360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097280"/>
            <a:ext cx="2468880" cy="1828800"/>
          </a:xfrm>
          <a:prstGeom prst="rect">
            <a:avLst/>
          </a:prstGeom>
          <a:solidFill>
            <a:srgbClr val="E53935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621792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179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ACIONANDO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35508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saiu.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ativada!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do sistema.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Transição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8580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→ OCUPADO: </a:t>
            </a: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frames consecutivos com detecção suavizada (mediana do buffer)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 → ACIONANDO: </a:t>
            </a: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frames chega a 0 (animal saiu)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ACIONANDO → LIVRE: </a:t>
            </a: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de 2s, reset de MOG2, memória e buffer</a:t>
            </a:r>
            <a:endParaRPr lang="en-US" sz="11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AF5298B7-12ED-74A4-4F03-78840BF07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— 8 Janelas Didáticas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Blur Gaussiano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suavizada (entrada)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60604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69748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CLAHE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Equalização adaptativa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Histograma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vs. CLAHE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90372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9951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Saturação HSV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 com colormap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864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MOG2 (Movimento)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de foreground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60604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6974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Otsu/HSV (Cor)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Limiarização estática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75488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84632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Máscara Fundida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90372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99516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Resultado Final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+ HUD + estados</a:t>
            </a:r>
            <a:endParaRPr lang="en-US" sz="11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C4062602-4BEF-C75F-1639-D2669023C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Experimental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180920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188720"/>
            <a:ext cx="548640" cy="387687"/>
          </a:xfrm>
          <a:prstGeom prst="lin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1384665"/>
            <a:ext cx="1645920" cy="22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750425"/>
            <a:ext cx="1645920" cy="83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 a webcam apontando para a área sanitária do pet. Abra o Jupyter Notebook.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051560"/>
            <a:ext cx="1920240" cy="180920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548640" cy="387687"/>
          </a:xfrm>
          <a:prstGeom prst="lin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743200" y="1384665"/>
            <a:ext cx="1645920" cy="22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1750425"/>
            <a:ext cx="1645920" cy="83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célula de parâmetros. Selecione a ROI na tela quando solicitado.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180920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440680" y="1188720"/>
            <a:ext cx="548640" cy="387687"/>
          </a:xfrm>
          <a:prstGeom prst="lin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92040" y="1384665"/>
            <a:ext cx="1645920" cy="22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750425"/>
            <a:ext cx="1645920" cy="83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as 8 janelas didáticas. O sistema opera automaticamente.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51560"/>
            <a:ext cx="1920240" cy="180920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589520" y="1188720"/>
            <a:ext cx="548640" cy="387687"/>
          </a:xfrm>
          <a:prstGeom prst="lin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040880" y="1384665"/>
            <a:ext cx="1645920" cy="22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1750425"/>
            <a:ext cx="1645920" cy="839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animal usar o espaço e sair, a descarga será ativada. Verifique o resultado.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135086"/>
            <a:ext cx="8229600" cy="1395162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8" name="Text 26"/>
          <p:cNvSpPr/>
          <p:nvPr/>
        </p:nvSpPr>
        <p:spPr>
          <a:xfrm>
            <a:off x="685800" y="3520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dirty="0" err="1"/>
              <a:t>Resultados</a:t>
            </a:r>
            <a:r>
              <a:rPr sz="1400" dirty="0"/>
              <a:t> da </a:t>
            </a:r>
            <a:r>
              <a:rPr sz="1400" dirty="0" err="1"/>
              <a:t>Avaliação</a:t>
            </a:r>
            <a:r>
              <a:rPr sz="1400" dirty="0"/>
              <a:t> </a:t>
            </a:r>
            <a:r>
              <a:rPr sz="1400" dirty="0" err="1"/>
              <a:t>Subjetiva</a:t>
            </a:r>
            <a:r>
              <a:rPr lang="en-US" sz="1400" dirty="0"/>
              <a:t>:</a:t>
            </a:r>
            <a:endParaRPr sz="1400" dirty="0"/>
          </a:p>
          <a:p>
            <a:r>
              <a:rPr sz="1400" dirty="0"/>
              <a:t>• </a:t>
            </a:r>
            <a:r>
              <a:rPr sz="1400" dirty="0" err="1"/>
              <a:t>Fácil</a:t>
            </a:r>
            <a:r>
              <a:rPr sz="1400" dirty="0"/>
              <a:t> de usar, </a:t>
            </a:r>
            <a:r>
              <a:rPr sz="1400" dirty="0" err="1"/>
              <a:t>aprender</a:t>
            </a:r>
            <a:r>
              <a:rPr sz="1400" dirty="0"/>
              <a:t> e </a:t>
            </a:r>
            <a:r>
              <a:rPr sz="1400" dirty="0" err="1"/>
              <a:t>interativo</a:t>
            </a:r>
            <a:r>
              <a:rPr sz="1400" dirty="0"/>
              <a:t>: Nota 5.0/5.0</a:t>
            </a:r>
          </a:p>
          <a:p>
            <a:r>
              <a:rPr sz="1400" dirty="0"/>
              <a:t>• </a:t>
            </a:r>
            <a:r>
              <a:rPr sz="1400" dirty="0" err="1"/>
              <a:t>Confiança</a:t>
            </a:r>
            <a:r>
              <a:rPr sz="1400" dirty="0"/>
              <a:t> e </a:t>
            </a:r>
            <a:r>
              <a:rPr sz="1400" dirty="0" err="1"/>
              <a:t>intenção</a:t>
            </a:r>
            <a:r>
              <a:rPr sz="1400" dirty="0"/>
              <a:t> de </a:t>
            </a:r>
            <a:r>
              <a:rPr sz="1400" dirty="0" err="1"/>
              <a:t>uso</a:t>
            </a:r>
            <a:r>
              <a:rPr sz="1400" dirty="0"/>
              <a:t>: Nota 4.8/5.0</a:t>
            </a:r>
          </a:p>
          <a:p>
            <a:r>
              <a:rPr sz="1400" dirty="0"/>
              <a:t>• Feedback: Timers </a:t>
            </a:r>
            <a:r>
              <a:rPr sz="1400" dirty="0" err="1"/>
              <a:t>precisos</a:t>
            </a:r>
            <a:r>
              <a:rPr sz="1400" dirty="0"/>
              <a:t> e HUD </a:t>
            </a:r>
            <a:r>
              <a:rPr sz="1400" dirty="0" err="1"/>
              <a:t>intuitivo</a:t>
            </a:r>
            <a:r>
              <a:rPr sz="1400" dirty="0"/>
              <a:t>.</a:t>
            </a:r>
          </a:p>
          <a:p>
            <a:r>
              <a:rPr sz="1400" dirty="0"/>
              <a:t>• </a:t>
            </a:r>
            <a:r>
              <a:rPr sz="1400" dirty="0" err="1"/>
              <a:t>Sugestão</a:t>
            </a:r>
            <a:r>
              <a:rPr sz="1400" dirty="0"/>
              <a:t>: </a:t>
            </a:r>
            <a:r>
              <a:rPr sz="1400" dirty="0" err="1"/>
              <a:t>Integração</a:t>
            </a:r>
            <a:r>
              <a:rPr sz="1400" dirty="0"/>
              <a:t> com IA para </a:t>
            </a:r>
            <a:r>
              <a:rPr sz="1400" dirty="0" err="1"/>
              <a:t>identificar</a:t>
            </a:r>
            <a:r>
              <a:rPr sz="1400" dirty="0"/>
              <a:t> o pet.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536FEC0B-8C16-1B2D-633E-CFD3F01AD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6385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Demonstração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886200" y="2926080"/>
            <a:ext cx="1371600" cy="1371600"/>
          </a:xfrm>
          <a:prstGeom prst="lin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16/19</a:t>
            </a:r>
            <a:endParaRPr lang="en-US" sz="800" dirty="0"/>
          </a:p>
        </p:txBody>
      </p:sp>
      <p:pic>
        <p:nvPicPr>
          <p:cNvPr id="9" name="_processado">
            <a:hlinkClick r:id="" action="ppaction://media"/>
            <a:extLst>
              <a:ext uri="{FF2B5EF4-FFF2-40B4-BE49-F238E27FC236}">
                <a16:creationId xmlns:a16="http://schemas.microsoft.com/office/drawing/2014/main" id="{96546247-D975-B7FE-0B8E-75F6945B24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73383" y="1551214"/>
            <a:ext cx="3997234" cy="299792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C45F83C-6AD5-C053-EB65-F2FB0AC89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8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Discussão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Positivos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em tempo real </a:t>
            </a: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Dual-pipeline (MOG2 + Otsu) reduz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 evita acionamentos prematuros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temporal com decaimento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</a:t>
            </a:r>
            <a:endParaRPr lang="en-US" sz="1200" dirty="0">
              <a:solidFill>
                <a:srgbClr val="2E4A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webcam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Melhorias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mudanças bruscas de iluminação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possui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animais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calibração de parâmetros por cenário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futura: integração com IoT para acionamento real da descarga</a:t>
            </a:r>
            <a:endParaRPr lang="en-US" sz="12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6246698-6C35-0215-9B18-50C8B8331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DogFlush atendeu todos os requisitos da </a:t>
            </a:r>
            <a:r>
              <a:rPr lang="en-US" sz="1500" b="1" dirty="0" err="1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Filtragem, processamento de cores, histograma, morfologia, segmentação e Watershed foram implementados e integrados em um pipeline funcional em tempo real.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demonstrou capacidade de detectar a presença do animal na área sanitária e acionar a descarga automaticamente no momento correto, validado por métricas objetivas e testes </a:t>
            </a:r>
            <a:r>
              <a:rPr lang="en-US" sz="13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experimentais</a:t>
            </a: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dual-pipeline (MOG2 para movimento + Otsu/HSV para presença estática) com fusão AND e máquina de estados temporal mostrou-se eficaz para o cenário </a:t>
            </a:r>
            <a:r>
              <a:rPr lang="en-US" sz="1300" dirty="0" err="1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proposto</a:t>
            </a: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aplica conceitos de PDI para resolver um problema real e acessível, usando apenas uma webcam comum e Python/OpenCV.</a:t>
            </a:r>
            <a:endParaRPr lang="en-US" sz="13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3639E38-F72C-BF8C-76DB-DFE68E89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Bibliográficas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GONZALEZ, R. C.; WOODS, R. E. Processamento Digital de Imagens. 3ª ed. Pearson, 2010.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BRADSKI, G.; KAEHLER, A. Learning OpenCV: Computer Vision with the OpenCV Library. O'Reilly, 2008.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OpenCV Documentation. Background Subtraction (MOG2).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OpenCV Documentation. Image Segmentation with Watershed Algorithm.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OpenCV Documentation. Histograms — CLAHE.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OpenCV Documentation. Morphological Transformations.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ZIVKOVIC, Z. Improved Adaptive Gaussian Mixture Model for Background Subtraction. ICPR, 2004.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BEUCHER, S.; MEYER, F. The Morphological Approach to Segmentation: The Watershed Transformation. 1993.</a:t>
            </a:r>
            <a:endParaRPr lang="en-US" sz="1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201ACC-49A1-36B8-7EFD-C20A33BA4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622" y="267789"/>
            <a:ext cx="469338" cy="480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1611</Words>
  <Application>Microsoft Office PowerPoint</Application>
  <PresentationFormat>Apresentação na tela (16:9)</PresentationFormat>
  <Paragraphs>286</Paragraphs>
  <Slides>17</Slides>
  <Notes>17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DogFlush - Sistema de Descarga Automática para Pets</dc:title>
  <dc:subject>PptxGenJS Presentation</dc:subject>
  <dc:creator>Allan Hirose, Juliana Silva, Kaike Souza</dc:creator>
  <cp:lastModifiedBy>allan hirose</cp:lastModifiedBy>
  <cp:revision>5</cp:revision>
  <dcterms:created xsi:type="dcterms:W3CDTF">2026-04-16T02:17:34Z</dcterms:created>
  <dcterms:modified xsi:type="dcterms:W3CDTF">2026-04-28T22:59:53Z</dcterms:modified>
</cp:coreProperties>
</file>
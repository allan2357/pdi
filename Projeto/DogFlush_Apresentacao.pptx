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659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line">
            <a:avLst/>
          </a:prstGeom>
          <a:solidFill>
            <a:srgbClr val="004D40">
              <a:alpha val="5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line">
            <a:avLst/>
          </a:prstGeom>
          <a:solidFill>
            <a:srgbClr val="004D40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DogFlush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Descarga Automática para Pets</a:t>
            </a:r>
            <a:endParaRPr lang="en-US" sz="2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914400"/>
            <a:ext cx="1371600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3383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Hirose Pires de Souza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 dos Santos Silva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Kaike Nascimento Souza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5720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e Contexto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5780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do Sistema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Pipeline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Processamento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5780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Atendidos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Desempenho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Experimental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e Resultados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25780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 e Contexto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Donos de pets que trabalham/estudam passam </a:t>
            </a: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horas fora de casa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 espaço sanitário dos animais acumula sujeira, gerando: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Odores e contaminação bacteriana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Desconforto para o animal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em reutilizar o espaço sujo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F9A82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de Mercado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7373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autolimpantes para gatos existem, mas para cães são praticamente inexistentes no Brasil.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existentes: R$ 900+ (não-automatizados)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automatizadas: R$ 2.000+ com hardware especial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proposta: visão computacional com webcam comum — acessível e sem hardware extra.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DogFlush monitora uma área sanitária via webcam e aciona automaticamente a descarga quando o animal termina de usar o espaço.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325880" y="2057400"/>
            <a:ext cx="640080" cy="64008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2167128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posicionar a webcam e executar. O sistema opera autonomamente.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3756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4206240" y="2057400"/>
            <a:ext cx="640080" cy="640080"/>
          </a:xfrm>
          <a:prstGeom prst="line">
            <a:avLst/>
          </a:prstGeom>
          <a:solidFill>
            <a:srgbClr val="00695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167128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Real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52044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on-the-fly com visualização de cada etapa do pipeline.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1792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086600" y="2057400"/>
            <a:ext cx="640080" cy="640080"/>
          </a:xfrm>
          <a:prstGeom prst="line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328" y="2167128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Dual-Mode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40080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webcam ao vivo e arquivos de vídeo gravados de terceiros.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188720"/>
            <a:ext cx="960120" cy="1371600"/>
          </a:xfrm>
          <a:prstGeom prst="rect">
            <a:avLst/>
          </a:prstGeom>
          <a:solidFill>
            <a:srgbClr val="0288D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3258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Blur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1737360"/>
            <a:ext cx="128016" cy="1280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719072" y="1188720"/>
            <a:ext cx="960120" cy="1371600"/>
          </a:xfrm>
          <a:prstGeom prst="rect">
            <a:avLst/>
          </a:prstGeom>
          <a:solidFill>
            <a:srgbClr val="7B1FA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252" y="13258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1907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HSV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737360"/>
            <a:ext cx="128016" cy="12801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843784" y="1188720"/>
            <a:ext cx="960120" cy="1371600"/>
          </a:xfrm>
          <a:prstGeom prst="rect">
            <a:avLst/>
          </a:prstGeom>
          <a:solidFill>
            <a:srgbClr val="00897B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0964" y="13258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843784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Histograma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2" y="1737360"/>
            <a:ext cx="128016" cy="12801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968496" y="1188720"/>
            <a:ext cx="960120" cy="1371600"/>
          </a:xfrm>
          <a:prstGeom prst="rect">
            <a:avLst/>
          </a:prstGeom>
          <a:solidFill>
            <a:srgbClr val="E651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5676" y="1325880"/>
            <a:ext cx="365760" cy="36576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968496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MOG2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Otsu</a:t>
            </a:r>
            <a:endParaRPr lang="en-US" sz="10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737360"/>
            <a:ext cx="128016" cy="128016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5093208" y="1188720"/>
            <a:ext cx="960120" cy="1371600"/>
          </a:xfrm>
          <a:prstGeom prst="rect">
            <a:avLst/>
          </a:prstGeom>
          <a:solidFill>
            <a:srgbClr val="C62828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1325880"/>
            <a:ext cx="365760" cy="36576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093208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Morfologia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Fusão</a:t>
            </a:r>
            <a:endParaRPr lang="en-US" sz="10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1737360"/>
            <a:ext cx="128016" cy="128016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6217920" y="1188720"/>
            <a:ext cx="960120" cy="1371600"/>
          </a:xfrm>
          <a:prstGeom prst="rect">
            <a:avLst/>
          </a:prstGeom>
          <a:solidFill>
            <a:srgbClr val="1565C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325880"/>
            <a:ext cx="365760" cy="36576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21792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0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737360"/>
            <a:ext cx="128016" cy="128016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7342632" y="1188720"/>
            <a:ext cx="960120" cy="1371600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9812" y="1325880"/>
            <a:ext cx="365760" cy="365760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734263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Estados</a:t>
            </a:r>
            <a:endParaRPr lang="en-US" sz="1000" dirty="0"/>
          </a:p>
        </p:txBody>
      </p:sp>
      <p:sp>
        <p:nvSpPr>
          <p:cNvPr id="34" name="Text 19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 da captura de vídeo até a decisão de acionamento, operando em tempo real.</a:t>
            </a:r>
            <a:endParaRPr lang="en-US" sz="1300" dirty="0"/>
          </a:p>
        </p:txBody>
      </p:sp>
      <p:sp>
        <p:nvSpPr>
          <p:cNvPr id="35" name="Shape 20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Text 21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Webcam/Vídeo → Suavização Gaussiana → Conversão HSV + Equalização CLAHE → Detecção MOG2 (movimento) + Otsu/HSV (cor) → Fusão AND → Abertura + Fechamento + Dilatação → Watershed → Filtragem de Contornos → Máquina de Estados Temporal → Acionamento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1-2: Captura, Suavização e Cores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502920" cy="502920"/>
          </a:xfrm>
          <a:prstGeom prst="line">
            <a:avLst/>
          </a:prstGeom>
          <a:solidFill>
            <a:srgbClr val="0288D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3075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&amp; Suavização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via OpenCV (cv2.VideoCapture)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Resolução: 640×480 @ 15 FPS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ROI interativa pelo usuário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Gaussiano 7×7 para redução de ruído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blur suaviza ruídos de alta frequência que causariam falsos positivos na detecção de movimento.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234440"/>
            <a:ext cx="502920" cy="502920"/>
          </a:xfrm>
          <a:prstGeom prst="line">
            <a:avLst/>
          </a:prstGeom>
          <a:solidFill>
            <a:srgbClr val="7B1FA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30759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de Cores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8348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HSV (matiz, saturação, valor)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Escala de Cinza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do canal de Saturação (S)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 com Colormap JET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HSV separa luminância de crominância, tornando a detecção mais robusta a variações de iluminação.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3: Equalização e Histograma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502920" cy="50292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26187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188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 — Contrast Limited Adaptive Histogram Equalization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 imagem em blocos 8×8 e equaliza cada bloco localmente, limitando o contraste (clipLimit=2.0) para evitar amplificação de ruído. Melhora detalhes em regiões escuras sem saturar áreas claras.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8580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Parâmetros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clipLimit = 2.0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tileGridSize = (8, 8)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 comparativo: original vs. CLAHE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75488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49834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Didática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8348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"3. Histograma" exibe em tempo real: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Vermelho = histograma original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histograma após CLAHE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4: Detecção — MOG2 + Otsu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73152" cy="320040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Movimento (MOG2)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Subtração de fundo adaptativa baseada em Mistura de Gaussianas (Zivkovic, 2004).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= 500 frames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varThreshold = 20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learningRate = 0.0001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detectShadows = True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aprendizado baixa evita que o animal parado seja absorvido pelo fundo.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73152" cy="32004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Estático (Otsu/HSV)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automática de Otsu sobre a imagem CLAHE equalizada.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THRESH_BINARY_INV + THRESH_OTSU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o animal mesmo quando parado (MOG2 perde rastreamento de objetos estáticos).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Fusão: AND lógico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fusão AND entre os dois pipelines reduz falsos positivos.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5-6: Morfologia e Watershed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457200" cy="457200"/>
          </a:xfrm>
          <a:prstGeom prst="lin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252728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Morfológicas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limpeza da máscara binária: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Abertura (5×5, 2 iter.) — remove ruído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Fechamento (9×9, 3 iter.) — preenche buracos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Dilatação (5×5, 1 iter.) — expande máscara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kernels são elípticos (MORPH_ELLIPSE) para contornos mais naturais.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exponencial (fator 0.90) persiste a detecção por ~10 frames.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188720"/>
            <a:ext cx="457200" cy="457200"/>
          </a:xfrm>
          <a:prstGeom prst="lin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252728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3212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98348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Segmentação topográfica (Beucher &amp; Meyer, 1993):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Distance Transform (L2)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Foreground: 30% da dist. máxima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Background: dilatação com kernel 13×13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Marcadores via connectedComponents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cv2.watershed() → bordas em vermelho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bordas vermelhas na janela de resultado indicam os limites encontrados pelo Watershed.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7: Filtragem de Contornos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43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segmentação, cada contorno candidato passa por 4 filtros para eliminar falsos positivos: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7772400" cy="14173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mínima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máxima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largura/altura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 – 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área/convex hull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contorno válido é selecionado como detecção. Suavização temporal com mediana de 5 frames estabiliza a decisão.</a:t>
            </a:r>
            <a:endParaRPr lang="en-US" sz="1200" dirty="0"/>
          </a:p>
        </p:txBody>
      </p:sp>
      <p:sp>
        <p:nvSpPr>
          <p:cNvPr id="9" name="Shape 8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3.206 contornos rejeitados por área, 0 por forma, 0 por solidez — filtragem eficaz sem perda de detecções válidas.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Estados Temporal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2468880" cy="1828800"/>
          </a:xfrm>
          <a:prstGeom prst="rect">
            <a:avLst/>
          </a:prstGeom>
          <a:solidFill>
            <a:srgbClr val="43A04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Monitorando.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 detecção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frames).</a:t>
            </a:r>
            <a:endParaRPr lang="en-US" sz="11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737360"/>
            <a:ext cx="228600" cy="228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429000" y="1097280"/>
            <a:ext cx="2468880" cy="1828800"/>
          </a:xfrm>
          <a:prstGeom prst="rect">
            <a:avLst/>
          </a:prstGeom>
          <a:solidFill>
            <a:srgbClr val="FF8F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342900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42900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OCUPADO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6616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detectado.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presença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na ROI.</a:t>
            </a:r>
            <a:endParaRPr lang="en-US" sz="11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737360"/>
            <a:ext cx="228600" cy="228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17920" y="1097280"/>
            <a:ext cx="2468880" cy="1828800"/>
          </a:xfrm>
          <a:prstGeom prst="rect">
            <a:avLst/>
          </a:prstGeom>
          <a:solidFill>
            <a:srgbClr val="E53935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621792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21792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ACIONANDO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5508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saiu.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ativada!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do sistema.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685800" y="3291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Transição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85800" y="3611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→ OCUPADO: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frames consecutivos com detecção suavizada (mediana do buffer)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 → ACIONANDO: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frames chega a 0 (animal saiu)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ACIONANDO → LIVRE: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de 2s, reset de MOG2, memória e buffer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— 8 Janelas Didáticas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Blur Gaussiano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suavizada (entrada)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69748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CLAHE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9748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adaptativa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Histograma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vs. CLAHE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690372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99516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Saturação HSV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S com colormap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4864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MOG2 (Movimento)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 de foreground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60604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260604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26974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Otsu/HSV (Cor)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9748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estática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475488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484632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Máscara Fundida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AND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690372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9951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Resultado Final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 + HUD + estados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de Desempenho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Laboratório Experimental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4300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Posicione a webcam apontando para a área sanitária do pet. Abra o Jupyter Notebook.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2918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432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célula de parâmetros. Selecione a ROI na tela quando solicitado.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544068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44068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9204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as 8 janelas didáticas. O sistema opera automaticamente.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758952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75895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4088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animal usar o espaço e sair, a descarga será ativada. Verifique o resultado.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ADICIOJNAR RESULTADOS DOS FORMULARTIOs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Demonstração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execução + Demo ao vivo com webcam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86200" y="2926080"/>
            <a:ext cx="1371600" cy="1371600"/>
          </a:xfrm>
          <a:prstGeom prst="line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200400"/>
            <a:ext cx="822960" cy="822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Discussão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Positivos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 em tempo real </a:t>
            </a: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Dual-pipeline (MOG2 + Otsu) reduz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 evita acionamentos prematuros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</a:t>
            </a:r>
            <a:endParaRPr lang="en-US" sz="1200" dirty="0">
              <a:solidFill>
                <a:srgbClr val="2E4A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webcam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mudanças bruscas de iluminação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possui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inteligente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animais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calibração de parâmetros por cenário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futura: integração com IoT para acionamento real da descarga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DogFlush atendeu todos os requisitos da </a:t>
            </a:r>
            <a:r>
              <a:rPr lang="en-US" sz="1500" b="1" dirty="0" err="1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Filtragem, processamento de cores, histograma, morfologia, segmentação e Watershed foram implementados e integrados em um pipeline funcional em tempo real.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demonstrou capacidade de detectar a presença do animal na área sanitária e acionar a descarga automaticamente no momento correto, validado por métricas objetivas e testes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experimentais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dual-pipeline (MOG2 para movimento + Otsu/HSV para presença estática) com fusão AND e máquina de estados temporal mostrou-se eficaz para o cenário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proposto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aplica conceitos de PDI para resolver um problema real e acessível, usando apenas uma webcam comum e Python/OpenCV.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Bibliográficas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GONZALEZ, R. C.; WOODS, R. E. Processamento Digital de Imagens. 3ª ed. Pearson, 2010.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BRADSKI, G.; KAEHLER, A. Learning OpenCV: Computer Vision with the OpenCV Library. O'Reilly, 2008.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OpenCV Documentation. Background Subtraction (MOG2).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OpenCV Documentation. Image Segmentation with Watershed Algorithm.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OpenCV Documentation. Histograms — CLAHE.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OpenCV Documentation. Morphological Transformations.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ZIVKOVIC, Z. Improved Adaptive Gaussian Mixture Model for Background Subtraction. ICPR, 2004.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BEUCHER, S.; MEYER, F. The Morphological Approach to Segmentation: The Watershed Transformation. 1993.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1598</Words>
  <Application>Microsoft Office PowerPoint</Application>
  <PresentationFormat>Apresentação na tela (16:9)</PresentationFormat>
  <Paragraphs>291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DogFlush - Sistema de Descarga Automática para Pets</dc:title>
  <dc:subject>PptxGenJS Presentation</dc:subject>
  <dc:creator>Allan Hirose, Juliana Silva, Kaike Souza</dc:creator>
  <cp:lastModifiedBy>allan hirose</cp:lastModifiedBy>
  <cp:revision>2</cp:revision>
  <dcterms:created xsi:type="dcterms:W3CDTF">2026-04-16T02:17:34Z</dcterms:created>
  <dcterms:modified xsi:type="dcterms:W3CDTF">2026-04-23T00:59:05Z</dcterms:modified>
</cp:coreProperties>
</file>
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14"/>
    <p:sldId id="270" r:id="rId15"/>
    <p:sldId id="271" r:id="rId16"/>
    <p:sldId id="272" r:id="rId17"/>
    <p:sldId id="273" r:id="rId18"/>
    <p:sldId id="274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63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346591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3.png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371600"/>
            <a:ext cx="5486400" cy="5486400"/>
          </a:xfrm>
          <a:prstGeom prst="line">
            <a:avLst/>
          </a:prstGeom>
          <a:solidFill>
            <a:srgbClr val="004D40">
              <a:alpha val="5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" name="Shape 1"/>
          <p:cNvSpPr/>
          <p:nvPr/>
        </p:nvSpPr>
        <p:spPr>
          <a:xfrm>
            <a:off x="6858000" y="2286000"/>
            <a:ext cx="3657600" cy="3657600"/>
          </a:xfrm>
          <a:prstGeom prst="line">
            <a:avLst/>
          </a:prstGeom>
          <a:solidFill>
            <a:srgbClr val="004D40">
              <a:alpha val="60000"/>
            </a:srgbClr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74320"/>
            <a:ext cx="182880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005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0C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16459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DogFlush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57200" y="2514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B2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Descarga Automática para Pets</a:t>
            </a:r>
            <a:endParaRPr lang="en-US" sz="22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914400"/>
            <a:ext cx="1371600" cy="1371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57200" y="33832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B2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Hirose Pires de Souza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B2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Juliana dos Santos Silva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B2D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Kaike Nascimento Souza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457200" y="4389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0C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1097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 e Contexto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754880" y="10972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475488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257800" y="1097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do Sistema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17830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457200" y="1783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60120" y="17830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 Pipeline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754880" y="17830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754880" y="17830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57800" y="17830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Etapas de Processamento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0" name="Text 18"/>
          <p:cNvSpPr/>
          <p:nvPr/>
        </p:nvSpPr>
        <p:spPr>
          <a:xfrm>
            <a:off x="457200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60120" y="24688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de Estados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754880" y="24688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3" name="Text 21"/>
          <p:cNvSpPr/>
          <p:nvPr/>
        </p:nvSpPr>
        <p:spPr>
          <a:xfrm>
            <a:off x="4754880" y="2468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57800" y="24688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Atendidos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57200" y="31546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6" name="Text 24"/>
          <p:cNvSpPr/>
          <p:nvPr/>
        </p:nvSpPr>
        <p:spPr>
          <a:xfrm>
            <a:off x="457200" y="3154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31546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 de Desempenho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754880" y="31546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4754880" y="31546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257800" y="31546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Laboratório Experimental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2" name="Text 30"/>
          <p:cNvSpPr/>
          <p:nvPr/>
        </p:nvSpPr>
        <p:spPr>
          <a:xfrm>
            <a:off x="457200" y="3840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60120" y="38404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e Resultados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4754880" y="3840480"/>
            <a:ext cx="411480" cy="411480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5" name="Text 33"/>
          <p:cNvSpPr/>
          <p:nvPr/>
        </p:nvSpPr>
        <p:spPr>
          <a:xfrm>
            <a:off x="4754880" y="3840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257800" y="38404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B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Conclusões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Motivação e Contexto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9319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457200" y="1051560"/>
            <a:ext cx="3931920" cy="54864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85800" y="12344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17373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Donos de pets que trabalham/estudam passam </a:t>
            </a:r>
            <a:r>
              <a:rPr lang="en-US" sz="1300" b="1" dirty="0">
                <a:solidFill>
                  <a:srgbClr val="0089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12+ horas fora de casa</a:t>
            </a: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O espaço sanitário dos animais acumula sujeira, gerando: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Odores e contaminação bacteriana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Desconforto para o animal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 em reutilizar o espaço sujo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1051560"/>
            <a:ext cx="393192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4754880" y="1051560"/>
            <a:ext cx="3931920" cy="54864"/>
          </a:xfrm>
          <a:prstGeom prst="rect">
            <a:avLst/>
          </a:prstGeom>
          <a:solidFill>
            <a:srgbClr val="F9A825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983480" y="12344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Pesquisa de Mercado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83480" y="173736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Soluções autolimpantes para gatos existem, mas para cães são praticamente inexistentes no Brasil.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Produtos existentes: R$ 900+ (não-automatizados)</a:t>
            </a:r>
            <a:endParaRPr lang="en-US" sz="13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Soluções automatizadas: R$ 2.000+ com hardware especial</a:t>
            </a: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endParaRPr lang="en-US" sz="13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Nossa proposta: visão computacional com webcam comum — acessível e sem hardware extra.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do Sistema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4/19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05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DogFlush monitora uma área sanitária via webcam e aciona automaticamente a descarga quando o animal termina de usar o espaço.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260604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9" name="Shape 7"/>
          <p:cNvSpPr/>
          <p:nvPr/>
        </p:nvSpPr>
        <p:spPr>
          <a:xfrm>
            <a:off x="1325880" y="2057400"/>
            <a:ext cx="640080" cy="640080"/>
          </a:xfrm>
          <a:prstGeom prst="line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5608" y="2167128"/>
            <a:ext cx="411480" cy="41148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" y="28346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Plug-and-Play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40080" y="32004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Basta posicionar a webcam e executar. O sistema opera autonomamente.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37560" y="1828800"/>
            <a:ext cx="260604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4" name="Shape 11"/>
          <p:cNvSpPr/>
          <p:nvPr/>
        </p:nvSpPr>
        <p:spPr>
          <a:xfrm>
            <a:off x="4206240" y="2057400"/>
            <a:ext cx="640080" cy="640080"/>
          </a:xfrm>
          <a:prstGeom prst="line">
            <a:avLst/>
          </a:prstGeom>
          <a:solidFill>
            <a:srgbClr val="00695C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5968" y="2167128"/>
            <a:ext cx="411480" cy="4114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520440" y="28346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Real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3520440" y="32004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Processamento on-the-fly com visualização de cada etapa do pipeline.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217920" y="1828800"/>
            <a:ext cx="2606040" cy="24688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9" name="Shape 15"/>
          <p:cNvSpPr/>
          <p:nvPr/>
        </p:nvSpPr>
        <p:spPr>
          <a:xfrm>
            <a:off x="7086600" y="2057400"/>
            <a:ext cx="640080" cy="640080"/>
          </a:xfrm>
          <a:prstGeom prst="line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6328" y="2167128"/>
            <a:ext cx="411480" cy="41148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6400800" y="28346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Dual-Mode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6400800" y="320040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webcam ao vivo e arquivos de vídeo gravados de terceiros.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do Sistema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94360" y="1188720"/>
            <a:ext cx="960120" cy="1371600"/>
          </a:xfrm>
          <a:prstGeom prst="rect">
            <a:avLst/>
          </a:prstGeom>
          <a:solidFill>
            <a:srgbClr val="0288D1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132588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173736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Blur</a:t>
            </a:r>
            <a:endParaRPr lang="en-US" sz="10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2768" y="1737360"/>
            <a:ext cx="128016" cy="12801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1719072" y="1188720"/>
            <a:ext cx="960120" cy="1371600"/>
          </a:xfrm>
          <a:prstGeom prst="rect">
            <a:avLst/>
          </a:prstGeom>
          <a:solidFill>
            <a:srgbClr val="7B1FA2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6252" y="132588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19072" y="173736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HSV</a:t>
            </a:r>
            <a:endParaRPr lang="en-US" sz="10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7480" y="1737360"/>
            <a:ext cx="128016" cy="128016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2843784" y="1188720"/>
            <a:ext cx="960120" cy="1371600"/>
          </a:xfrm>
          <a:prstGeom prst="rect">
            <a:avLst/>
          </a:prstGeom>
          <a:solidFill>
            <a:srgbClr val="00897B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40964" y="1325880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2843784" y="173736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CLAHE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Histograma</a:t>
            </a:r>
            <a:endParaRPr lang="en-US" sz="10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2" y="1737360"/>
            <a:ext cx="128016" cy="128016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3968496" y="1188720"/>
            <a:ext cx="960120" cy="1371600"/>
          </a:xfrm>
          <a:prstGeom prst="rect">
            <a:avLst/>
          </a:prstGeom>
          <a:solidFill>
            <a:srgbClr val="E65100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5676" y="1325880"/>
            <a:ext cx="365760" cy="36576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3968496" y="173736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MOG2 +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Otsu</a:t>
            </a:r>
            <a:endParaRPr lang="en-US" sz="1000" dirty="0"/>
          </a:p>
        </p:txBody>
      </p:sp>
      <p:pic>
        <p:nvPicPr>
          <p:cNvPr id="22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6904" y="1737360"/>
            <a:ext cx="128016" cy="128016"/>
          </a:xfrm>
          <a:prstGeom prst="rect">
            <a:avLst/>
          </a:prstGeom>
        </p:spPr>
      </p:pic>
      <p:sp>
        <p:nvSpPr>
          <p:cNvPr id="23" name="Shape 13"/>
          <p:cNvSpPr/>
          <p:nvPr/>
        </p:nvSpPr>
        <p:spPr>
          <a:xfrm>
            <a:off x="5093208" y="1188720"/>
            <a:ext cx="960120" cy="1371600"/>
          </a:xfrm>
          <a:prstGeom prst="rect">
            <a:avLst/>
          </a:prstGeom>
          <a:solidFill>
            <a:srgbClr val="C62828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24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90388" y="1325880"/>
            <a:ext cx="365760" cy="365760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5093208" y="173736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Morfologia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Fusão</a:t>
            </a:r>
            <a:endParaRPr lang="en-US" sz="1000" dirty="0"/>
          </a:p>
        </p:txBody>
      </p:sp>
      <p:pic>
        <p:nvPicPr>
          <p:cNvPr id="26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1616" y="1737360"/>
            <a:ext cx="128016" cy="128016"/>
          </a:xfrm>
          <a:prstGeom prst="rect">
            <a:avLst/>
          </a:prstGeom>
        </p:spPr>
      </p:pic>
      <p:sp>
        <p:nvSpPr>
          <p:cNvPr id="27" name="Shape 15"/>
          <p:cNvSpPr/>
          <p:nvPr/>
        </p:nvSpPr>
        <p:spPr>
          <a:xfrm>
            <a:off x="6217920" y="1188720"/>
            <a:ext cx="960120" cy="1371600"/>
          </a:xfrm>
          <a:prstGeom prst="rect">
            <a:avLst/>
          </a:prstGeom>
          <a:solidFill>
            <a:srgbClr val="1565C0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28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15100" y="1325880"/>
            <a:ext cx="365760" cy="365760"/>
          </a:xfrm>
          <a:prstGeom prst="rect">
            <a:avLst/>
          </a:prstGeom>
        </p:spPr>
      </p:pic>
      <p:sp>
        <p:nvSpPr>
          <p:cNvPr id="29" name="Text 16"/>
          <p:cNvSpPr/>
          <p:nvPr/>
        </p:nvSpPr>
        <p:spPr>
          <a:xfrm>
            <a:off x="6217920" y="173736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Watershed</a:t>
            </a:r>
            <a:endParaRPr lang="en-US" sz="1000" dirty="0"/>
          </a:p>
        </p:txBody>
      </p:sp>
      <p:pic>
        <p:nvPicPr>
          <p:cNvPr id="30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328" y="1737360"/>
            <a:ext cx="128016" cy="128016"/>
          </a:xfrm>
          <a:prstGeom prst="rect">
            <a:avLst/>
          </a:prstGeom>
        </p:spPr>
      </p:pic>
      <p:sp>
        <p:nvSpPr>
          <p:cNvPr id="31" name="Shape 17"/>
          <p:cNvSpPr/>
          <p:nvPr/>
        </p:nvSpPr>
        <p:spPr>
          <a:xfrm>
            <a:off x="7342632" y="1188720"/>
            <a:ext cx="960120" cy="1371600"/>
          </a:xfrm>
          <a:prstGeom prst="rect">
            <a:avLst/>
          </a:prstGeom>
          <a:solidFill>
            <a:srgbClr val="2E7D32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pic>
        <p:nvPicPr>
          <p:cNvPr id="32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39812" y="1325880"/>
            <a:ext cx="365760" cy="365760"/>
          </a:xfrm>
          <a:prstGeom prst="rect">
            <a:avLst/>
          </a:prstGeom>
        </p:spPr>
      </p:pic>
      <p:sp>
        <p:nvSpPr>
          <p:cNvPr id="33" name="Text 18"/>
          <p:cNvSpPr/>
          <p:nvPr/>
        </p:nvSpPr>
        <p:spPr>
          <a:xfrm>
            <a:off x="7342632" y="1737360"/>
            <a:ext cx="960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Estados</a:t>
            </a:r>
            <a:endParaRPr lang="en-US" sz="1000" dirty="0"/>
          </a:p>
        </p:txBody>
      </p:sp>
      <p:sp>
        <p:nvSpPr>
          <p:cNvPr id="34" name="Text 19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F7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completo: da captura de vídeo até a decisão de acionamento, operando em tempo real.</a:t>
            </a:r>
            <a:endParaRPr lang="en-US" sz="1300" dirty="0"/>
          </a:p>
        </p:txBody>
      </p:sp>
      <p:sp>
        <p:nvSpPr>
          <p:cNvPr id="35" name="Shape 20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6" name="Text 21"/>
          <p:cNvSpPr/>
          <p:nvPr/>
        </p:nvSpPr>
        <p:spPr>
          <a:xfrm>
            <a:off x="640080" y="35661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b="1" dirty="0">
                <a:solidFill>
                  <a:srgbClr val="003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Fluxo: </a:t>
            </a: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Webcam/Vídeo → Suavização Gaussiana → Conversão HSV + Equalização CLAHE → Detecção MOG2 (movimento) + Otsu/HSV (cor) → Fusão AND → Abertura + Fechamento + Dilatação → Watershed → Filtragem de Contornos → Máquina de Estados Temporal → Acionamento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1-2: Captura, Suavização e Cores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640080" y="1234440"/>
            <a:ext cx="502920" cy="502920"/>
          </a:xfrm>
          <a:prstGeom prst="line">
            <a:avLst/>
          </a:prstGeom>
          <a:solidFill>
            <a:srgbClr val="0288D1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307592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80160" y="1234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Captura &amp; Suavização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85800" y="192024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via OpenCV (cv2.VideoCapture)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Resolução: 640×480 @ 15 FPS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Seleção de ROI interativa pelo usuário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 Gaussiano 7×7 para redução de ruído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i="1" dirty="0">
                <a:solidFill>
                  <a:srgbClr val="5F7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blur suaviza ruídos de alta frequência que causariam falsos positivos na detecção de movimento.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754880" y="105156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0"/>
          <p:cNvSpPr/>
          <p:nvPr/>
        </p:nvSpPr>
        <p:spPr>
          <a:xfrm>
            <a:off x="4937760" y="1234440"/>
            <a:ext cx="502920" cy="502920"/>
          </a:xfrm>
          <a:prstGeom prst="line">
            <a:avLst/>
          </a:prstGeom>
          <a:solidFill>
            <a:srgbClr val="7B1FA2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0912" y="1307592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77840" y="1234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Processamento de Cores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4983480" y="192024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Conversão BGR → HSV (matiz, saturação, valor)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Conversão BGR → Escala de Cinza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do canal de Saturação (S)</a:t>
            </a:r>
            <a:endParaRPr lang="en-US" sz="12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Visualização com Colormap JET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i="1" dirty="0">
                <a:solidFill>
                  <a:srgbClr val="5F7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espaço HSV separa luminância de crominância, tornando a detecção mais robusta a variações de iluminação.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3: Equalização e Histograma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4630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640080" y="1188720"/>
            <a:ext cx="502920" cy="502920"/>
          </a:xfrm>
          <a:prstGeom prst="line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261872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80160" y="11887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CLAHE — Contrast Limited Adaptive Histogram Equalization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85800" y="1828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 a imagem em blocos 8×8 e equaliza cada bloco localmente, limitando o contraste (clipLimit=2.0) para evitar amplificação de ruído. Melhora detalhes em regiões escuras sem saturar áreas claras.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2743200"/>
            <a:ext cx="39319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685800" y="2834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Parâmetros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85800" y="32004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100" dirty="0">
                <a:solidFill>
                  <a:srgbClr val="2E4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clipLimit = 2.0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100" dirty="0">
                <a:solidFill>
                  <a:srgbClr val="2E4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tileGridSize = (8, 8)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Histograma comparativo: original vs. CLAHE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754880" y="2743200"/>
            <a:ext cx="393192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4983480" y="28346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Janela Didática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983480" y="32004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Janela "3. Histograma" exibe em tempo real: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Vermelho = histograma original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= histograma após CLAHE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4: Detecção — MOG2 + Otsu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457200" y="1051560"/>
            <a:ext cx="73152" cy="3200400"/>
          </a:xfrm>
          <a:prstGeom prst="rect">
            <a:avLst/>
          </a:prstGeom>
          <a:solidFill>
            <a:srgbClr val="E651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731520" y="11430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de Movimento (MOG2)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160020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Subtração de fundo adaptativa baseada em Mistura de Gaussianas (Zivkovic, 2004).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2E4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history = 500 frames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2E4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varThreshold = 20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2E4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learningRate = 0.0001</a:t>
            </a: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2E4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detectShadows = True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5F7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aprendizado baixa evita que o animal parado seja absorvido pelo fundo.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05156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4754880" y="1051560"/>
            <a:ext cx="73152" cy="3200400"/>
          </a:xfrm>
          <a:prstGeom prst="rect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5029200" y="11430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Estático (Otsu/HSV)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029200" y="160020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Limiarização automática de Otsu sobre a imagem CLAHE equalizada.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2E4A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THRESH_BINARY_INV + THRESH_OTSU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o animal mesmo quando parado (MOG2 perde rastreamento de objetos estáticos).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Fusão: AND lógico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5F7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fusão AND entre os dois pipelines reduz falsos positivos.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5-6: Morfologia e Watershed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640080" y="1188720"/>
            <a:ext cx="457200" cy="457200"/>
          </a:xfrm>
          <a:prstGeom prst="line">
            <a:avLst/>
          </a:prstGeom>
          <a:solidFill>
            <a:srgbClr val="C62828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1252728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23444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Operações Morfológicas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85800" y="173736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de limpeza da máscara binária: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Abertura (5×5, 2 iter.) — remove ruído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Fechamento (9×9, 3 iter.) — preenche buracos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Dilatação (5×5, 1 iter.) — expande máscara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5F7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kernels são elípticos (MORPH_ELLIPSE) para contornos mais naturais.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temporal com decaimento exponencial (fator 0.90) persiste a detecção por ~10 frames.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754880" y="105156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0"/>
          <p:cNvSpPr/>
          <p:nvPr/>
        </p:nvSpPr>
        <p:spPr>
          <a:xfrm>
            <a:off x="4937760" y="1188720"/>
            <a:ext cx="457200" cy="457200"/>
          </a:xfrm>
          <a:prstGeom prst="line">
            <a:avLst/>
          </a:prstGeom>
          <a:solidFill>
            <a:srgbClr val="1565C0"/>
          </a:solidFill>
          <a:ln/>
        </p:spPr>
        <p:txBody>
          <a:bodyPr/>
          <a:lstStyle/>
          <a:p>
            <a:endParaRPr lang="pt-BR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1768" y="1252728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32120" y="1188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Watershed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983480" y="173736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Segmentação topográfica (Beucher &amp; Meyer, 1993):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Distance Transform (L2)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Foreground: 30% da dist. máxima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Background: dilatação com kernel 13×13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Marcadores via connectedComponents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cv2.watershed() → bordas em vermelho</a:t>
            </a: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endParaRPr lang="en-US" sz="12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5F7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bordas vermelhas na janela de resultado indicam os limites encontrados pelo Watershed.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7: Filtragem de Contornos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2240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685800" y="11430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Após segmentação, cada contorno candidato passa por 4 filtros para eliminar falsos positivos: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600200"/>
          <a:ext cx="7772400" cy="141732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F2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F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mínima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da ROI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máxima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da ROI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 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largura/altura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 – 5.0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Solidez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área/convex hull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E4A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0.1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F7D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maior contorno válido é selecionado como detecção. Suavização temporal com mediana de 5 frames estabiliza a decisão.</a:t>
            </a:r>
            <a:endParaRPr lang="en-US" sz="1200" dirty="0"/>
          </a:p>
        </p:txBody>
      </p:sp>
      <p:sp>
        <p:nvSpPr>
          <p:cNvPr id="9" name="Shape 8"/>
          <p:cNvSpPr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solidFill>
            <a:srgbClr val="E0F2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685800" y="38404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3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3.206 contornos rejeitados por área, 0 por forma, 0 por solidez — filtragem eficaz sem perda de detecções válidas.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de Estados Temporal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640080" y="1097280"/>
            <a:ext cx="2468880" cy="1828800"/>
          </a:xfrm>
          <a:prstGeom prst="rect">
            <a:avLst/>
          </a:prstGeom>
          <a:solidFill>
            <a:srgbClr val="43A047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640080" y="1170432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3716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LIVRE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" y="182880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Monitorando.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Aguarda detecção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consecutiva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(30 frames).</a:t>
            </a:r>
            <a:endParaRPr lang="en-US" sz="11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6392" y="1737360"/>
            <a:ext cx="228600" cy="2286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3429000" y="1097280"/>
            <a:ext cx="2468880" cy="1828800"/>
          </a:xfrm>
          <a:prstGeom prst="rect">
            <a:avLst/>
          </a:prstGeom>
          <a:solidFill>
            <a:srgbClr val="FF8F00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3429000" y="1170432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1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429000" y="13716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OCUPADO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3566160" y="182880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 detectado.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Acompanha presença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contínua na ROI.</a:t>
            </a:r>
            <a:endParaRPr lang="en-US" sz="1100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312" y="1737360"/>
            <a:ext cx="228600" cy="2286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217920" y="1097280"/>
            <a:ext cx="2468880" cy="1828800"/>
          </a:xfrm>
          <a:prstGeom prst="rect">
            <a:avLst/>
          </a:prstGeom>
          <a:solidFill>
            <a:srgbClr val="E53935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Text 14"/>
          <p:cNvSpPr/>
          <p:nvPr/>
        </p:nvSpPr>
        <p:spPr>
          <a:xfrm>
            <a:off x="6217920" y="1170432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2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6217920" y="13716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ACIONANDO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6355080" y="1828800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Animal saiu.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 ativada!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do sistema.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457200" y="3200400"/>
            <a:ext cx="8229600" cy="10972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2" name="Text 18"/>
          <p:cNvSpPr/>
          <p:nvPr/>
        </p:nvSpPr>
        <p:spPr>
          <a:xfrm>
            <a:off x="685800" y="32918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Regras de Transição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685800" y="36118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LIVRE → OCUPADO: </a:t>
            </a: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frames consecutivos com detecção suavizada (mediana do buffer)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OCUPADO → ACIONANDO: </a:t>
            </a: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contador de frames chega a 0 (animal saiu)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b="1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ACIONANDO → LIVRE: </a:t>
            </a: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pausa de 2s, reset de MOG2, memória e buffer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 — 8 Janelas Didáticas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457200" y="1097280"/>
            <a:ext cx="1920240" cy="27432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548640" y="1097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Blur Gaussiano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15087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Imagem suavizada (entrada)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06040" y="109728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2606040" y="1097280"/>
            <a:ext cx="1920240" cy="27432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2697480" y="1097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CLAHE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697480" y="15087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Equalização adaptativa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54880" y="109728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6" name="Shape 14"/>
          <p:cNvSpPr/>
          <p:nvPr/>
        </p:nvSpPr>
        <p:spPr>
          <a:xfrm>
            <a:off x="4754880" y="1097280"/>
            <a:ext cx="1920240" cy="27432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7" name="Text 15"/>
          <p:cNvSpPr/>
          <p:nvPr/>
        </p:nvSpPr>
        <p:spPr>
          <a:xfrm>
            <a:off x="4846320" y="1097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Histograma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846320" y="15087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vs. CLAHE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903720" y="109728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0" name="Shape 18"/>
          <p:cNvSpPr/>
          <p:nvPr/>
        </p:nvSpPr>
        <p:spPr>
          <a:xfrm>
            <a:off x="6903720" y="1097280"/>
            <a:ext cx="1920240" cy="27432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6995160" y="1097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Saturação HSV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995160" y="150876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S com colormap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88036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4" name="Shape 22"/>
          <p:cNvSpPr/>
          <p:nvPr/>
        </p:nvSpPr>
        <p:spPr>
          <a:xfrm>
            <a:off x="457200" y="2880360"/>
            <a:ext cx="1920240" cy="27432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5" name="Text 23"/>
          <p:cNvSpPr/>
          <p:nvPr/>
        </p:nvSpPr>
        <p:spPr>
          <a:xfrm>
            <a:off x="54864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MOG2 (Movimento)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48640" y="32918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Máscara de foreground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606040" y="288036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8" name="Shape 26"/>
          <p:cNvSpPr/>
          <p:nvPr/>
        </p:nvSpPr>
        <p:spPr>
          <a:xfrm>
            <a:off x="2606040" y="2880360"/>
            <a:ext cx="1920240" cy="27432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9" name="Text 27"/>
          <p:cNvSpPr/>
          <p:nvPr/>
        </p:nvSpPr>
        <p:spPr>
          <a:xfrm>
            <a:off x="269748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Otsu/HSV (Cor)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97480" y="32918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Limiarização estática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754880" y="288036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2" name="Shape 30"/>
          <p:cNvSpPr/>
          <p:nvPr/>
        </p:nvSpPr>
        <p:spPr>
          <a:xfrm>
            <a:off x="4754880" y="2880360"/>
            <a:ext cx="1920240" cy="27432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3" name="Text 31"/>
          <p:cNvSpPr/>
          <p:nvPr/>
        </p:nvSpPr>
        <p:spPr>
          <a:xfrm>
            <a:off x="484632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Máscara Fundida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846320" y="32918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AND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903720" y="2880360"/>
            <a:ext cx="1920240" cy="155448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36" name="Shape 34"/>
          <p:cNvSpPr/>
          <p:nvPr/>
        </p:nvSpPr>
        <p:spPr>
          <a:xfrm>
            <a:off x="6903720" y="2880360"/>
            <a:ext cx="1920240" cy="27432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699516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Resultado Final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995160" y="329184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Watershed + HUD + estados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Métricas de Desempenho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14/19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Laboratório Experimental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9202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1143000" y="1188720"/>
            <a:ext cx="548640" cy="548640"/>
          </a:xfrm>
          <a:prstGeom prst="line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114300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1874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Preparação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224028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Posicione a webcam apontando para a área sanitária do pet. Abra o Jupyter Notebook.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06040" y="1051560"/>
            <a:ext cx="19202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3" name="Shape 11"/>
          <p:cNvSpPr/>
          <p:nvPr/>
        </p:nvSpPr>
        <p:spPr>
          <a:xfrm>
            <a:off x="3291840" y="1188720"/>
            <a:ext cx="548640" cy="548640"/>
          </a:xfrm>
          <a:prstGeom prst="line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329184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743200" y="1874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Configuração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743200" y="224028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a célula de parâmetros. Selecione a ROI na tela quando solicitado.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754880" y="1051560"/>
            <a:ext cx="19202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8" name="Shape 16"/>
          <p:cNvSpPr/>
          <p:nvPr/>
        </p:nvSpPr>
        <p:spPr>
          <a:xfrm>
            <a:off x="5440680" y="1188720"/>
            <a:ext cx="548640" cy="548640"/>
          </a:xfrm>
          <a:prstGeom prst="line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17"/>
          <p:cNvSpPr/>
          <p:nvPr/>
        </p:nvSpPr>
        <p:spPr>
          <a:xfrm>
            <a:off x="544068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4892040" y="1874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Observação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92040" y="224028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Acompanhe as 8 janelas didáticas. O sistema opera automaticamente.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903720" y="1051560"/>
            <a:ext cx="192024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23" name="Shape 21"/>
          <p:cNvSpPr/>
          <p:nvPr/>
        </p:nvSpPr>
        <p:spPr>
          <a:xfrm>
            <a:off x="7589520" y="1188720"/>
            <a:ext cx="548640" cy="548640"/>
          </a:xfrm>
          <a:prstGeom prst="line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7589520" y="11887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7040880" y="18745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Avaliação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040880" y="224028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animal usar o espaço e sair, a descarga será ativada. Verifique o resultado.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solidFill>
            <a:srgbClr val="E0F2F1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28" name="Text 26"/>
          <p:cNvSpPr/>
          <p:nvPr/>
        </p:nvSpPr>
        <p:spPr>
          <a:xfrm>
            <a:off x="685800" y="38404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003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</a:t>
            </a:r>
            <a:r>
              <a:rPr lang="en-US" sz="1200" b="1" dirty="0">
                <a:solidFill>
                  <a:srgbClr val="003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ADICIOJNAR RESULTADOS DOS FORMULARTIOs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3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6385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Demonstração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3886200" y="2926080"/>
            <a:ext cx="1371600" cy="1371600"/>
          </a:xfrm>
          <a:prstGeom prst="line">
            <a:avLst/>
          </a:prstGeom>
          <a:solidFill>
            <a:srgbClr val="FFFFFF">
              <a:alpha val="80000"/>
            </a:srgbClr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16/19</a:t>
            </a:r>
            <a:endParaRPr lang="en-US" sz="800" dirty="0"/>
          </a:p>
        </p:txBody>
      </p:sp>
      <p:pic>
        <p:nvPicPr>
          <p:cNvPr id="9" name="_processado">
            <a:hlinkClick r:id="" action="ppaction://media"/>
            <a:extLst>
              <a:ext uri="{FF2B5EF4-FFF2-40B4-BE49-F238E27FC236}">
                <a16:creationId xmlns:a16="http://schemas.microsoft.com/office/drawing/2014/main" id="{96546247-D975-B7FE-0B8E-75F6945B247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573383" y="1551214"/>
            <a:ext cx="3997234" cy="299792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7083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e Discussão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Shape 6"/>
          <p:cNvSpPr/>
          <p:nvPr/>
        </p:nvSpPr>
        <p:spPr>
          <a:xfrm>
            <a:off x="457200" y="1051560"/>
            <a:ext cx="3931920" cy="54864"/>
          </a:xfrm>
          <a:prstGeom prst="rect">
            <a:avLst/>
          </a:prstGeom>
          <a:solidFill>
            <a:srgbClr val="43A047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68580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Positivos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169164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funcional em tempo real </a:t>
            </a:r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Dual-pipeline (MOG2 + Otsu) reduz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falsos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positivos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negativos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de estados evita acionamentos prematuros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Memória temporal com decaimento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suaviza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detecção</a:t>
            </a:r>
            <a:endParaRPr lang="en-US" sz="1200" dirty="0">
              <a:solidFill>
                <a:srgbClr val="2E4A4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webcam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1051560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12" name="Shape 10"/>
          <p:cNvSpPr/>
          <p:nvPr/>
        </p:nvSpPr>
        <p:spPr>
          <a:xfrm>
            <a:off x="4754880" y="1051560"/>
            <a:ext cx="3931920" cy="54864"/>
          </a:xfrm>
          <a:prstGeom prst="rect">
            <a:avLst/>
          </a:prstGeom>
          <a:solidFill>
            <a:srgbClr val="E65100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498348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Limitações e Melhorias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83480" y="169164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Sensível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mudanças bruscas de iluminação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possui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identificação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inteligente</a:t>
            </a: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animais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 calibração de parâmetros por cenário</a:t>
            </a:r>
            <a:endParaRPr lang="en-US" sz="12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Melhoria futura: integração com IoT para acionamento real da descarga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Conclusões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18/19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32918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685800" y="1188720"/>
            <a:ext cx="7772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003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DogFlush atendeu todos os requisitos da </a:t>
            </a:r>
            <a:r>
              <a:rPr lang="en-US" sz="1500" b="1" dirty="0" err="1">
                <a:solidFill>
                  <a:srgbClr val="003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Filtragem, processamento de cores, histograma, morfologia, segmentação e Watershed foram implementados e integrados em um pipeline funcional em tempo real.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demonstrou capacidade de detectar a presença do animal na área sanitária e acionar a descarga automaticamente no momento correto, validado por métricas objetivas e testes </a:t>
            </a:r>
            <a:r>
              <a:rPr lang="en-US" sz="13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experimentais</a:t>
            </a: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arquitetura dual-pipeline (MOG2 para movimento + Otsu/HSV para presença estática) com fusão AND e máquina de estados temporal mostrou-se eficaz para o cenário </a:t>
            </a:r>
            <a:r>
              <a:rPr lang="en-US" sz="1300" dirty="0" err="1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proposto</a:t>
            </a:r>
            <a:r>
              <a:rPr lang="en-US" sz="13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300" b="1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projeto aplica conceitos de PDI para resolver um problema real e acessível, usando apenas uma webcam comum e Python/OpenCV.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8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3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 Bibliográficas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04672"/>
            <a:ext cx="1371600" cy="36576"/>
          </a:xfrm>
          <a:prstGeom prst="rect">
            <a:avLst/>
          </a:prstGeom>
          <a:solidFill>
            <a:srgbClr val="00897B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4" name="Shape 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003F2D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5" name="Text 3"/>
          <p:cNvSpPr/>
          <p:nvPr/>
        </p:nvSpPr>
        <p:spPr>
          <a:xfrm>
            <a:off x="457200" y="4800600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MCZA018 — Processamento Digital de Imagens — Q1.2026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772400" y="4800600"/>
            <a:ext cx="914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19/19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GONZALEZ, R. C.; WOODS, R. E. Processamento Digital de Imagens. 3ª ed. Pearson, 2010.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BRADSKI, G.; KAEHLER, A. Learning OpenCV: Computer Vision with the OpenCV Library. O'Reilly, 2008.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OpenCV Documentation. Background Subtraction (MOG2).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OpenCV Documentation. Image Segmentation with Watershed Algorithm.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OpenCV Documentation. Histograms — CLAHE.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OpenCV Documentation. Morphological Transformations.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ZIVKOVIC, Z. Improved Adaptive Gaussian Mixture Model for Background Subtraction. ICPR, 2004.</a:t>
            </a: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endParaRPr lang="en-US" sz="12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E4A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BEUCHER, S.; MEYER, F. The Morphological Approach to Segmentation: The Watershed Transformation. 1993.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1589</Words>
  <Application>Microsoft Office PowerPoint</Application>
  <PresentationFormat>Apresentação na tela (16:9)</PresentationFormat>
  <Paragraphs>290</Paragraphs>
  <Slides>18</Slides>
  <Notes>18</Notes>
  <HiddenSlides>0</HiddenSlides>
  <MMClips>1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18</vt:i4>
      </vt:variant>
    </vt:vector>
  </HeadingPairs>
  <TitlesOfParts>
    <vt:vector size="23" baseType="lpstr">
      <vt:lpstr>Arial</vt:lpstr>
      <vt:lpstr>Arial Black</vt:lpstr>
      <vt:lpstr>Calibri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DogFlush - Sistema de Descarga Automática para Pets</dc:title>
  <dc:subject>PptxGenJS Presentation</dc:subject>
  <dc:creator>Allan Hirose, Juliana Silva, Kaike Souza</dc:creator>
  <cp:lastModifiedBy>allan hirose</cp:lastModifiedBy>
  <cp:revision>3</cp:revision>
  <dcterms:created xsi:type="dcterms:W3CDTF">2026-04-16T02:17:34Z</dcterms:created>
  <dcterms:modified xsi:type="dcterms:W3CDTF">2026-04-28T22:42:52Z</dcterms:modified>
</cp:coreProperties>
</file>